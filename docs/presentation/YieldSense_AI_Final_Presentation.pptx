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46be6a2-5b02-1d47-b46d-99dd922e4fb7}">
          <p14:sldIdLst>
            <p14:sldId id="256"/>
            <p14:sldId id="257"/>
            <p14:sldId id="258"/>
            <p14:sldId id="259"/>
          </p14:sldIdLst>
        </p14:section>
        <p14:section name="Data and model" id="{34123f0a-d966-1798-531e-57f0275960cc}">
          <p14:sldIdLst>
            <p14:sldId id="260"/>
            <p14:sldId id="261"/>
            <p14:sldId id="262"/>
          </p14:sldIdLst>
        </p14:section>
        <p14:section name="The platform" id="{6a7f5294-b69a-9620-6b0d-7648a9fc555e}">
          <p14:sldIdLst>
            <p14:sldId id="263"/>
            <p14:sldId id="264"/>
            <p14:sldId id="265"/>
          </p14:sldIdLst>
        </p14:section>
        <p14:section name="Quality and deployment" id="{133e4902-1ef9-7ce0-c92e-9fe9c300d170}">
          <p14:sldIdLst>
            <p14:sldId id="266"/>
            <p14:sldId id="267"/>
            <p14:sldId id="268"/>
            <p14:sldId id="269"/>
          </p14:sldIdLst>
        </p14:section>
        <p14:section name="Close" id="{872727ee-694e-1249-e51d-fa4a520053d2}">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31A"/>
                </a:solidFill>
                <a:latin typeface="+mn-lt"/>
              </a:defRPr>
            </a:pPr>
            <a:r>
              <a:rPr sz="1300" b="0" i="0" u="none" strike="noStrike">
                <a:solidFill>
                  <a:srgbClr val="14231A"/>
                </a:solidFill>
                <a:latin typeface="+mn-lt"/>
              </a:rPr>
              <a:t>Error on 2009–2013 (RMSE, kg/ha, lower is better)</a:t>
            </a:r>
          </a:p>
        </c:rich>
      </c:tx>
      <c:layout/>
      <c:overlay val="0"/>
    </c:title>
    <c:autoTitleDeleted val="0"/>
    <c:plotArea>
      <c:layout/>
      <c:barChart>
        <c:barDir val="bar"/>
        <c:grouping val="clustered"/>
        <c:varyColors val="0"/>
        <c:ser>
          <c:idx val="0"/>
          <c:order val="0"/>
          <c:tx>
            <c:strRef>
              <c:f>Sheet1!$B$1</c:f>
              <c:strCache>
                <c:ptCount val="1"/>
                <c:pt idx="0">
                  <c:v>RMSE (kg/ha)</c:v>
                </c:pt>
              </c:strCache>
            </c:strRef>
          </c:tx>
          <c:spPr>
            <a:solidFill>
              <a:srgbClr val="1F7A4D"/>
            </a:solidFill>
            <a:effectLst/>
          </c:spPr>
          <c:invertIfNegative val="0"/>
          <c:dLbls>
            <c:numFmt formatCode="#,##0" sourceLinked="0"/>
            <c:txPr>
              <a:bodyPr/>
              <a:lstStyle/>
              <a:p>
                <a:pPr>
                  <a:defRPr b="0" i="0" strike="noStrike" sz="1100" u="none">
                    <a:solidFill>
                      <a:srgbClr val="14231A"/>
                    </a:solidFill>
                    <a:latin typeface="+mn-lt"/>
                  </a:defRPr>
                </a:pPr>
              </a:p>
            </c:txPr>
            <c:showLegendKey val="0"/>
            <c:showVal val="1"/>
            <c:showCatName val="0"/>
            <c:showSerName val="0"/>
            <c:showPercent val="0"/>
            <c:showBubbleSize val="0"/>
            <c:showLeaderLines val="0"/>
          </c:dLbls>
          <c:dPt>
            <c:idx val="0"/>
            <c:invertIfNegative val="0"/>
            <c:bubble3D val="0"/>
            <c:spPr>
              <a:solidFill>
                <a:srgbClr val="1F7A4D"/>
              </a:solidFill>
              <a:effectLst/>
            </c:spPr>
          </c:dPt>
          <c:dPt>
            <c:idx val="1"/>
            <c:invertIfNegative val="0"/>
            <c:bubble3D val="0"/>
            <c:spPr>
              <a:solidFill>
                <a:srgbClr val="E8A33A"/>
              </a:solidFill>
              <a:effectLst/>
            </c:spPr>
          </c:dPt>
          <c:dPt>
            <c:idx val="2"/>
            <c:invertIfNegative val="0"/>
            <c:bubble3D val="0"/>
            <c:spPr>
              <a:solidFill>
                <a:srgbClr val="1F7A4D"/>
              </a:solidFill>
              <a:effectLst/>
            </c:spPr>
          </c:dPt>
          <c:dPt>
            <c:idx val="3"/>
            <c:invertIfNegative val="0"/>
            <c:bubble3D val="0"/>
            <c:spPr>
              <a:solidFill>
                <a:srgbClr val="1F7A4D"/>
              </a:solidFill>
              <a:effectLst/>
            </c:spPr>
          </c:dPt>
          <c:dPt>
            <c:idx val="4"/>
            <c:invertIfNegative val="0"/>
            <c:bubble3D val="0"/>
            <c:spPr>
              <a:solidFill>
                <a:srgbClr val="7FBF8F"/>
              </a:solidFill>
              <a:effectLst/>
            </c:spPr>
          </c:dPt>
          <c:dPt>
            <c:idx val="5"/>
            <c:invertIfNegative val="0"/>
            <c:bubble3D val="0"/>
            <c:spPr>
              <a:solidFill>
                <a:srgbClr val="7FBF8F"/>
              </a:solidFill>
              <a:effectLst/>
            </c:spPr>
          </c:dPt>
          <c:cat>
            <c:multiLvlStrRef>
              <c:f>Sheet1!$A$2:$A$7</c:f>
              <c:multiLvlStrCache>
                <c:ptCount val="6"/>
                <c:lvl>
                  <c:pt idx="0">
                    <c:v>Keras MLP</c:v>
                  </c:pt>
                  <c:pt idx="1">
                    <c:v>XGBoost</c:v>
                  </c:pt>
                  <c:pt idx="2">
                    <c:v>Random Forest</c:v>
                  </c:pt>
                  <c:pt idx="3">
                    <c:v>LightGBM</c:v>
                  </c:pt>
                  <c:pt idx="4">
                    <c:v>Linear</c:v>
                  </c:pt>
                  <c:pt idx="5">
                    <c:v>Ridge</c:v>
                  </c:pt>
                </c:lvl>
              </c:multiLvlStrCache>
            </c:multiLvlStrRef>
          </c:cat>
          <c:val>
            <c:numRef>
              <c:f>Sheet1!$B$2:$B$7</c:f>
              <c:numCache>
                <c:formatCode>General</c:formatCode>
                <c:ptCount val="6"/>
                <c:pt idx="0">
                  <c:v>2042</c:v>
                </c:pt>
                <c:pt idx="1">
                  <c:v>2065</c:v>
                </c:pt>
                <c:pt idx="2">
                  <c:v>2079</c:v>
                </c:pt>
                <c:pt idx="3">
                  <c:v>2198</c:v>
                </c:pt>
                <c:pt idx="4">
                  <c:v>4959</c:v>
                </c:pt>
                <c:pt idx="5">
                  <c:v>4960</c:v>
                </c:pt>
              </c:numCache>
            </c:numRef>
          </c:val>
        </c:ser>
        <c:dLbls>
          <c:numFmt formatCode="#,##0" sourceLinked="0"/>
          <c:txPr>
            <a:bodyPr/>
            <a:lstStyle/>
            <a:p>
              <a:pPr>
                <a:defRPr b="0" i="0" strike="noStrike" sz="1100" u="none">
                  <a:solidFill>
                    <a:srgbClr val="1423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4231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14231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YieldSense AI estimates crop yields and turns weather, soil and risk data into recommendations. This presentation covers all four milestones: data and setup, the yield model, the platform, and testing and deployment. Then a short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farmers and organisations commit money long before the harvest. Yields depend on weather, soil and pests, which vary by region and year. The goal of YieldSense is to estimate yields from data and turn the estimate into practical, honest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specification asks for seven modules; risk assessment is split out as its own screen, so there are eight areas. All of them are implemented and work on real data, with the caveats I will cover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talks to Nginx, which serves the React app and forwards API calls to FastAPI. PostgreSQL holds relational data such as users, farms and predictions; MongoDB holds raw uploads and caches for the external services. The model is a serialised XGBoost pipeline. External data comes from Open-Meteo, SoilGrids and, optionally, Groq for plain-language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early finding: the first model scored very well because NDVI had been generated from the yield itself. That is target leakage. I audited every column: only seven are real. The synthetic ones are kept for the reference view but never feed the model, and the app labels each column as real, synthetic or derived.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model families were trained on raw and log-transformed yields and evaluated on three splits. The main one is temporal: train up to 2008 and test on 2009 to 2013, years the model never saw. Linear models are far behind. The top four are close; the Keras MLP is 1% better than XGBoost, but by the selection rule the faster model wins, and XGBoost keeps TensorFlow out of the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served model explains about 95% of the variation in yields on years it never saw, with a typical error of about 2,000 kilograms per hectare. The likely-range band covers 74.5% of real yields against an 80% target, so it is slightly too narrow, and the app says so. Removing a synthetic column in version 2.1 slightly improved every metric. A validation gate in CI protects these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core screens. The predictor separates the six model inputs from optional field conditions, which only drive risk flags. It shows a likely range and, for a selected farm, the expected harvest in tonnes. The risk page rates each risk by likelihood and impact, shows how it changes over the years and suggests mitigation.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dataset's soil columns are synthetic, farm soil comes from ISRIC SoilGrids for the farm's coordinates, combined with the farm's own lab tests. Nutrients are rated against Indian Soil Health Card limits, with fertilizer guidance. If SoilGrids is unavailable, the page shows an error; it never quietly substitutes made-up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Recommendations come from rules that compare the selected region and crop with the best-yielding records. Where the model uses the input, it estimates the impact in kilograms per hectare. Analytics show trends and compare a user's farms with the regional average. AI text is optional and always labelled; I tightened the prompt so it only states what the evidence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covers the API with 130 tests, including access for every route and role, frontend unit tests, and a browser test that signs in as all three roles and fails on any console error. Lighthouse scores are 99 to 100. I also ran load tests and rehearsed restoring a database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Milestone 4 the whole platform runs in Docker. GitHub Actions runs the tests and the model validation gate on every push, builds the images and, on demand, deploys them to a cloud virtual machine and checks the health endpoint. Measured locally, the stack handles 72 requests per second from 20 concurrent users with no errors. Switching to the CPU-only build of XGBoost halved the image size without changing a single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honest about limits matters as much as the scores. The data is national, so predictions are national expectations. The model struggles with countries it has never seen. Rainfall does not vary by year in this dataset. And the likely range is a little too narrow. All of this is documented in the checklist and shown in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the first public deployment, managed databases for reliability, and better data — harvested area, production and field measurements — so predictions can move from national to field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path (about 5 minutes): sign in with the farmer demo account; run a prediction for Rice in India and show the range and harvest; open the risk page; show real soil for Green Valley Farm; create a task from a recommendation; sign in as admin to show system metrics.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4231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743200"/>
            <a:ext cx="8046720" cy="82296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F4D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9144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2788920"/>
            <a:ext cx="8046720" cy="731520"/>
          </a:xfrm>
          <a:prstGeom prst="rect">
            <a:avLst/>
          </a:prstGeom>
          <a:noFill/>
          <a:ln/>
        </p:spPr>
        <p:txBody>
          <a:bodyPr wrap="square" rtlCol="0"/>
          <a:lstStyle>
            <a:lvl1pPr indent="0" marL="0">
              <a:buNone/>
              <a:defRPr lang="en-US" sz="1600" dirty="0">
                <a:solidFill>
                  <a:schemeClr val="accent5"/>
                </a:solidFill>
              </a:defRPr>
            </a:lvl1pPr>
          </a:lstStyle>
          <a:p>
            <a:pPr indent="0" marL="0">
              <a:buNone/>
            </a:pP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chemeClr val="accent1"/>
                </a:solidFill>
              </a:rPr>
              <a:t>YieldSense AI · Final presentation</a:t>
            </a:r>
            <a:endParaRPr lang="en-US"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4.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rPr>
              <a:t>YieldSense AI</a:t>
            </a:r>
            <a:endParaRPr lang="en-US" sz="4000" dirty="0"/>
          </a:p>
        </p:txBody>
      </p:sp>
      <p:sp>
        <p:nvSpPr>
          <p:cNvPr id="3" name="Text 0"/>
          <p:cNvSpPr/>
          <p:nvPr>
            <p:ph idx="101" type="body" hasCustomPrompt="1"/>
          </p:nvPr>
        </p:nvSpPr>
        <p:spPr>
          <a:xfrm>
            <a:off x="548640" y="2743200"/>
            <a:ext cx="8046720" cy="822960"/>
          </a:xfrm>
          <a:prstGeom prst="rect">
            <a:avLst/>
          </a:prstGeom>
          <a:noFill/>
          <a:ln/>
        </p:spPr>
        <p:txBody>
          <a:bodyPr wrap="square" lIns="0" tIns="0" rIns="0" bIns="0" rtlCol="0" anchor="t"/>
          <a:lstStyle/>
          <a:p>
            <a:pPr indent="0" marL="0">
              <a:buNone/>
            </a:pPr>
            <a:r>
              <a:rPr lang="en-US" sz="1800" dirty="0">
                <a:solidFill>
                  <a:schemeClr val="accent5"/>
                </a:solidFill>
              </a:rPr>
              <a:t>Crop yield prediction and agricultural productivity intelligence</a:t>
            </a:r>
            <a:endParaRPr lang="en-US" sz="1800" dirty="0"/>
          </a:p>
        </p:txBody>
      </p:sp>
      <p:sp>
        <p:nvSpPr>
          <p:cNvPr id="4" name="logo circle"/>
          <p:cNvSpPr/>
          <p:nvPr/>
        </p:nvSpPr>
        <p:spPr>
          <a:xfrm>
            <a:off x="548640" y="548640"/>
            <a:ext cx="685800" cy="685800"/>
          </a:xfrm>
          <a:prstGeom prst="ellipse">
            <a:avLst/>
          </a:prstGeom>
          <a:solidFill>
            <a:schemeClr val="accent1"/>
          </a:solidFill>
          <a:ln w="12700">
            <a:solidFill>
              <a:schemeClr val="accent1"/>
            </a:solidFill>
            <a:prstDash val="solid"/>
          </a:ln>
        </p:spPr>
      </p:sp>
      <p:pic>
        <p:nvPicPr>
          <p:cNvPr id="5" name="logo" descr="preencoded.png">    </p:cNvPr>
          <p:cNvPicPr>
            <a:picLocks noChangeAspect="1"/>
          </p:cNvPicPr>
          <p:nvPr/>
        </p:nvPicPr>
        <p:blipFill>
          <a:blip r:embed="rId1"/>
          <a:stretch>
            <a:fillRect/>
          </a:stretch>
        </p:blipFill>
        <p:spPr>
          <a:xfrm>
            <a:off x="699516" y="699516"/>
            <a:ext cx="384048" cy="384048"/>
          </a:xfrm>
          <a:prstGeom prst="rect">
            <a:avLst/>
          </a:prstGeom>
        </p:spPr>
      </p:pic>
      <p:sp>
        <p:nvSpPr>
          <p:cNvPr id="6" name="Text 3"/>
          <p:cNvSpPr txBox="1"/>
          <p:nvPr/>
        </p:nvSpPr>
        <p:spPr>
          <a:xfrm>
            <a:off x="548640" y="4160520"/>
            <a:ext cx="8046720" cy="320040"/>
          </a:xfrm>
          <a:prstGeom prst="rect">
            <a:avLst/>
          </a:prstGeom>
          <a:noFill/>
          <a:ln/>
        </p:spPr>
        <p:txBody>
          <a:bodyPr wrap="square" lIns="0" tIns="0" rIns="0" bIns="0" rtlCol="0" anchor="ctr"/>
          <a:lstStyle/>
          <a:p>
            <a:pPr indent="0" marL="0">
              <a:buNone/>
            </a:pPr>
            <a:r>
              <a:rPr lang="en-US" sz="1400" dirty="0">
                <a:solidFill>
                  <a:schemeClr val="bg2"/>
                </a:solidFill>
              </a:rPr>
              <a:t>Durga Prasad A  ·  Infosys Springboard  ·  Milestones 1–4</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Farm decisions come before the harvest</a:t>
            </a:r>
            <a:endParaRPr lang="en-US" sz="2800" dirty="0"/>
          </a:p>
        </p:txBody>
      </p:sp>
      <p:sp>
        <p:nvSpPr>
          <p:cNvPr id="3" name="problem card 1"/>
          <p:cNvSpPr/>
          <p:nvPr/>
        </p:nvSpPr>
        <p:spPr>
          <a:xfrm>
            <a:off x="457200" y="1234440"/>
            <a:ext cx="2606040" cy="2377440"/>
          </a:xfrm>
          <a:prstGeom prst="roundRect">
            <a:avLst>
              <a:gd name="adj" fmla="val 3077"/>
            </a:avLst>
          </a:prstGeom>
          <a:solidFill>
            <a:schemeClr val="bg2"/>
          </a:solidFill>
          <a:ln w="12700">
            <a:solidFill>
              <a:schemeClr val="bg2"/>
            </a:solidFill>
            <a:prstDash val="solid"/>
          </a:ln>
        </p:spPr>
      </p:sp>
      <p:sp>
        <p:nvSpPr>
          <p:cNvPr id="4" name="problem icon 1 circle"/>
          <p:cNvSpPr/>
          <p:nvPr/>
        </p:nvSpPr>
        <p:spPr>
          <a:xfrm>
            <a:off x="685800" y="1463040"/>
            <a:ext cx="548640" cy="548640"/>
          </a:xfrm>
          <a:prstGeom prst="ellipse">
            <a:avLst/>
          </a:prstGeom>
          <a:solidFill>
            <a:schemeClr val="accent1"/>
          </a:solidFill>
          <a:ln w="12700">
            <a:solidFill>
              <a:schemeClr val="accent1"/>
            </a:solidFill>
            <a:prstDash val="solid"/>
          </a:ln>
        </p:spPr>
      </p:sp>
      <p:pic>
        <p:nvPicPr>
          <p:cNvPr id="5" name="problem icon 1" descr="preencoded.png">    </p:cNvPr>
          <p:cNvPicPr>
            <a:picLocks noChangeAspect="1"/>
          </p:cNvPicPr>
          <p:nvPr/>
        </p:nvPicPr>
        <p:blipFill>
          <a:blip r:embed="rId1"/>
          <a:stretch>
            <a:fillRect/>
          </a:stretch>
        </p:blipFill>
        <p:spPr>
          <a:xfrm>
            <a:off x="806501" y="1583741"/>
            <a:ext cx="307238" cy="307238"/>
          </a:xfrm>
          <a:prstGeom prst="rect">
            <a:avLst/>
          </a:prstGeom>
        </p:spPr>
      </p:pic>
      <p:sp>
        <p:nvSpPr>
          <p:cNvPr id="6" name="Text 3"/>
          <p:cNvSpPr txBox="1"/>
          <p:nvPr/>
        </p:nvSpPr>
        <p:spPr>
          <a:xfrm>
            <a:off x="685800" y="2148840"/>
            <a:ext cx="2194560" cy="365760"/>
          </a:xfrm>
          <a:prstGeom prst="rect">
            <a:avLst/>
          </a:prstGeom>
          <a:noFill/>
          <a:ln/>
        </p:spPr>
        <p:txBody>
          <a:bodyPr wrap="square" lIns="0" tIns="0" rIns="0" bIns="0" rtlCol="0" anchor="ctr"/>
          <a:lstStyle/>
          <a:p>
            <a:pPr indent="0" marL="0">
              <a:buNone/>
            </a:pPr>
            <a:r>
              <a:rPr lang="en-US" sz="1700" b="1" dirty="0">
                <a:solidFill>
                  <a:schemeClr val="tx1"/>
                </a:solidFill>
              </a:rPr>
              <a:t>Uncertain yields</a:t>
            </a:r>
            <a:endParaRPr lang="en-US" sz="1700" dirty="0"/>
          </a:p>
        </p:txBody>
      </p:sp>
      <p:sp>
        <p:nvSpPr>
          <p:cNvPr id="7" name="Text 4"/>
          <p:cNvSpPr txBox="1"/>
          <p:nvPr/>
        </p:nvSpPr>
        <p:spPr>
          <a:xfrm>
            <a:off x="685800" y="2560320"/>
            <a:ext cx="2194560" cy="914400"/>
          </a:xfrm>
          <a:prstGeom prst="rect">
            <a:avLst/>
          </a:prstGeom>
          <a:noFill/>
          <a:ln/>
        </p:spPr>
        <p:txBody>
          <a:bodyPr wrap="square" lIns="0" tIns="0" rIns="0" bIns="0" rtlCol="0" anchor="t"/>
          <a:lstStyle/>
          <a:p>
            <a:pPr indent="0" marL="0">
              <a:buNone/>
            </a:pPr>
            <a:r>
              <a:rPr lang="en-US" sz="1400" dirty="0">
                <a:solidFill>
                  <a:schemeClr val="tx1"/>
                </a:solidFill>
              </a:rPr>
              <a:t>Planting, inputs and sales are planned months before anyone knows the harvest.</a:t>
            </a:r>
            <a:endParaRPr lang="en-US" sz="1400" dirty="0"/>
          </a:p>
        </p:txBody>
      </p:sp>
      <p:sp>
        <p:nvSpPr>
          <p:cNvPr id="8" name="problem card 2"/>
          <p:cNvSpPr/>
          <p:nvPr/>
        </p:nvSpPr>
        <p:spPr>
          <a:xfrm>
            <a:off x="3246120" y="1234440"/>
            <a:ext cx="2606040" cy="2377440"/>
          </a:xfrm>
          <a:prstGeom prst="roundRect">
            <a:avLst>
              <a:gd name="adj" fmla="val 3077"/>
            </a:avLst>
          </a:prstGeom>
          <a:solidFill>
            <a:schemeClr val="bg2"/>
          </a:solidFill>
          <a:ln w="12700">
            <a:solidFill>
              <a:schemeClr val="bg2"/>
            </a:solidFill>
            <a:prstDash val="solid"/>
          </a:ln>
        </p:spPr>
      </p:sp>
      <p:sp>
        <p:nvSpPr>
          <p:cNvPr id="9" name="problem icon 2 circle"/>
          <p:cNvSpPr/>
          <p:nvPr/>
        </p:nvSpPr>
        <p:spPr>
          <a:xfrm>
            <a:off x="3474720" y="1463040"/>
            <a:ext cx="548640" cy="548640"/>
          </a:xfrm>
          <a:prstGeom prst="ellipse">
            <a:avLst/>
          </a:prstGeom>
          <a:solidFill>
            <a:schemeClr val="accent3"/>
          </a:solidFill>
          <a:ln w="12700">
            <a:solidFill>
              <a:schemeClr val="accent3"/>
            </a:solidFill>
            <a:prstDash val="solid"/>
          </a:ln>
        </p:spPr>
      </p:sp>
      <p:pic>
        <p:nvPicPr>
          <p:cNvPr id="10" name="problem icon 2" descr="preencoded.png">    </p:cNvPr>
          <p:cNvPicPr>
            <a:picLocks noChangeAspect="1"/>
          </p:cNvPicPr>
          <p:nvPr/>
        </p:nvPicPr>
        <p:blipFill>
          <a:blip r:embed="rId2"/>
          <a:stretch>
            <a:fillRect/>
          </a:stretch>
        </p:blipFill>
        <p:spPr>
          <a:xfrm>
            <a:off x="3595421" y="1583741"/>
            <a:ext cx="307238" cy="307238"/>
          </a:xfrm>
          <a:prstGeom prst="rect">
            <a:avLst/>
          </a:prstGeom>
        </p:spPr>
      </p:pic>
      <p:sp>
        <p:nvSpPr>
          <p:cNvPr id="11" name="Text 7"/>
          <p:cNvSpPr txBox="1"/>
          <p:nvPr/>
        </p:nvSpPr>
        <p:spPr>
          <a:xfrm>
            <a:off x="3474720" y="2148840"/>
            <a:ext cx="2194560" cy="365760"/>
          </a:xfrm>
          <a:prstGeom prst="rect">
            <a:avLst/>
          </a:prstGeom>
          <a:noFill/>
          <a:ln/>
        </p:spPr>
        <p:txBody>
          <a:bodyPr wrap="square" lIns="0" tIns="0" rIns="0" bIns="0" rtlCol="0" anchor="ctr"/>
          <a:lstStyle/>
          <a:p>
            <a:pPr indent="0" marL="0">
              <a:buNone/>
            </a:pPr>
            <a:r>
              <a:rPr lang="en-US" sz="1700" b="1" dirty="0">
                <a:solidFill>
                  <a:schemeClr val="tx1"/>
                </a:solidFill>
              </a:rPr>
              <a:t>Weather and soil vary</a:t>
            </a:r>
            <a:endParaRPr lang="en-US" sz="1700" dirty="0"/>
          </a:p>
        </p:txBody>
      </p:sp>
      <p:sp>
        <p:nvSpPr>
          <p:cNvPr id="12" name="Text 8"/>
          <p:cNvSpPr txBox="1"/>
          <p:nvPr/>
        </p:nvSpPr>
        <p:spPr>
          <a:xfrm>
            <a:off x="3474720" y="2560320"/>
            <a:ext cx="2194560" cy="914400"/>
          </a:xfrm>
          <a:prstGeom prst="rect">
            <a:avLst/>
          </a:prstGeom>
          <a:noFill/>
          <a:ln/>
        </p:spPr>
        <p:txBody>
          <a:bodyPr wrap="square" lIns="0" tIns="0" rIns="0" bIns="0" rtlCol="0" anchor="t"/>
          <a:lstStyle/>
          <a:p>
            <a:pPr indent="0" marL="0">
              <a:buNone/>
            </a:pPr>
            <a:r>
              <a:rPr lang="en-US" sz="1400" dirty="0">
                <a:solidFill>
                  <a:schemeClr val="tx1"/>
                </a:solidFill>
              </a:rPr>
              <a:t>Rainfall, temperature and soil quality differ by place and year.</a:t>
            </a:r>
            <a:endParaRPr lang="en-US" sz="1400" dirty="0"/>
          </a:p>
        </p:txBody>
      </p:sp>
      <p:sp>
        <p:nvSpPr>
          <p:cNvPr id="13" name="problem card 3"/>
          <p:cNvSpPr/>
          <p:nvPr/>
        </p:nvSpPr>
        <p:spPr>
          <a:xfrm>
            <a:off x="6035040" y="1234440"/>
            <a:ext cx="2606040" cy="2377440"/>
          </a:xfrm>
          <a:prstGeom prst="roundRect">
            <a:avLst>
              <a:gd name="adj" fmla="val 3077"/>
            </a:avLst>
          </a:prstGeom>
          <a:solidFill>
            <a:schemeClr val="bg2"/>
          </a:solidFill>
          <a:ln w="12700">
            <a:solidFill>
              <a:schemeClr val="bg2"/>
            </a:solidFill>
            <a:prstDash val="solid"/>
          </a:ln>
        </p:spPr>
      </p:sp>
      <p:sp>
        <p:nvSpPr>
          <p:cNvPr id="14" name="problem icon 3 circle"/>
          <p:cNvSpPr/>
          <p:nvPr/>
        </p:nvSpPr>
        <p:spPr>
          <a:xfrm>
            <a:off x="6263640" y="1463040"/>
            <a:ext cx="548640" cy="548640"/>
          </a:xfrm>
          <a:prstGeom prst="ellipse">
            <a:avLst/>
          </a:prstGeom>
          <a:solidFill>
            <a:schemeClr val="accent6"/>
          </a:solidFill>
          <a:ln w="12700">
            <a:solidFill>
              <a:schemeClr val="accent6"/>
            </a:solidFill>
            <a:prstDash val="solid"/>
          </a:ln>
        </p:spPr>
      </p:sp>
      <p:pic>
        <p:nvPicPr>
          <p:cNvPr id="15" name="problem icon 3" descr="preencoded.png">    </p:cNvPr>
          <p:cNvPicPr>
            <a:picLocks noChangeAspect="1"/>
          </p:cNvPicPr>
          <p:nvPr/>
        </p:nvPicPr>
        <p:blipFill>
          <a:blip r:embed="rId3"/>
          <a:stretch>
            <a:fillRect/>
          </a:stretch>
        </p:blipFill>
        <p:spPr>
          <a:xfrm>
            <a:off x="6384341" y="1583741"/>
            <a:ext cx="307238" cy="307238"/>
          </a:xfrm>
          <a:prstGeom prst="rect">
            <a:avLst/>
          </a:prstGeom>
        </p:spPr>
      </p:pic>
      <p:sp>
        <p:nvSpPr>
          <p:cNvPr id="16" name="Text 11"/>
          <p:cNvSpPr txBox="1"/>
          <p:nvPr/>
        </p:nvSpPr>
        <p:spPr>
          <a:xfrm>
            <a:off x="6263640" y="2148840"/>
            <a:ext cx="2194560" cy="365760"/>
          </a:xfrm>
          <a:prstGeom prst="rect">
            <a:avLst/>
          </a:prstGeom>
          <a:noFill/>
          <a:ln/>
        </p:spPr>
        <p:txBody>
          <a:bodyPr wrap="square" lIns="0" tIns="0" rIns="0" bIns="0" rtlCol="0" anchor="ctr"/>
          <a:lstStyle/>
          <a:p>
            <a:pPr indent="0" marL="0">
              <a:buNone/>
            </a:pPr>
            <a:r>
              <a:rPr lang="en-US" sz="1700" b="1" dirty="0">
                <a:solidFill>
                  <a:schemeClr val="tx1"/>
                </a:solidFill>
              </a:rPr>
              <a:t>Risk is spread thin</a:t>
            </a:r>
            <a:endParaRPr lang="en-US" sz="1700" dirty="0"/>
          </a:p>
        </p:txBody>
      </p:sp>
      <p:sp>
        <p:nvSpPr>
          <p:cNvPr id="17" name="Text 12"/>
          <p:cNvSpPr txBox="1"/>
          <p:nvPr/>
        </p:nvSpPr>
        <p:spPr>
          <a:xfrm>
            <a:off x="6263640" y="2560320"/>
            <a:ext cx="2194560" cy="914400"/>
          </a:xfrm>
          <a:prstGeom prst="rect">
            <a:avLst/>
          </a:prstGeom>
          <a:noFill/>
          <a:ln/>
        </p:spPr>
        <p:txBody>
          <a:bodyPr wrap="square" lIns="0" tIns="0" rIns="0" bIns="0" rtlCol="0" anchor="t"/>
          <a:lstStyle/>
          <a:p>
            <a:pPr indent="0" marL="0">
              <a:buNone/>
            </a:pPr>
            <a:r>
              <a:rPr lang="en-US" sz="1400" dirty="0">
                <a:solidFill>
                  <a:schemeClr val="tx1"/>
                </a:solidFill>
              </a:rPr>
              <a:t>Drought, heat and pests hit some regions far harder than others.</a:t>
            </a:r>
            <a:endParaRPr lang="en-US" sz="1400" dirty="0"/>
          </a:p>
        </p:txBody>
      </p:sp>
      <p:sp>
        <p:nvSpPr>
          <p:cNvPr id="18" name="Text 13"/>
          <p:cNvSpPr txBox="1"/>
          <p:nvPr/>
        </p:nvSpPr>
        <p:spPr>
          <a:xfrm>
            <a:off x="457200" y="3886200"/>
            <a:ext cx="8229600" cy="548640"/>
          </a:xfrm>
          <a:prstGeom prst="rect">
            <a:avLst/>
          </a:prstGeom>
          <a:noFill/>
          <a:ln/>
        </p:spPr>
        <p:txBody>
          <a:bodyPr wrap="square" lIns="0" tIns="0" rIns="0" bIns="0" rtlCol="0" anchor="ctr"/>
          <a:lstStyle/>
          <a:p>
            <a:pPr indent="0" marL="0">
              <a:buNone/>
            </a:pPr>
            <a:r>
              <a:rPr lang="en-US" sz="1500" b="1" dirty="0">
                <a:solidFill>
                  <a:schemeClr val="accent1"/>
                </a:solidFill>
              </a:rPr>
              <a:t>Goal: </a:t>
            </a:r>
            <a:pPr indent="0" marL="0">
              <a:buNone/>
            </a:pPr>
            <a:r>
              <a:rPr lang="en-US" sz="1500" dirty="0">
                <a:solidFill>
                  <a:schemeClr val="tx1"/>
                </a:solidFill>
              </a:rPr>
              <a:t>estimate yield from historical, weather and soil data, and turn it into clear, honest advice for farmers, agronomists and administrators.</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Every module in the specification, working</a:t>
            </a:r>
            <a:endParaRPr lang="en-US" sz="2800" dirty="0"/>
          </a:p>
        </p:txBody>
      </p:sp>
      <p:sp>
        <p:nvSpPr>
          <p:cNvPr id="3" name="module card 1"/>
          <p:cNvSpPr/>
          <p:nvPr/>
        </p:nvSpPr>
        <p:spPr>
          <a:xfrm>
            <a:off x="457200" y="1188720"/>
            <a:ext cx="1920240" cy="1508760"/>
          </a:xfrm>
          <a:prstGeom prst="roundRect">
            <a:avLst>
              <a:gd name="adj" fmla="val 4848"/>
            </a:avLst>
          </a:prstGeom>
          <a:solidFill>
            <a:schemeClr val="bg2"/>
          </a:solidFill>
          <a:ln w="12700">
            <a:solidFill>
              <a:schemeClr val="bg2"/>
            </a:solidFill>
            <a:prstDash val="solid"/>
          </a:ln>
        </p:spPr>
      </p:sp>
      <p:sp>
        <p:nvSpPr>
          <p:cNvPr id="4" name="module icon 1 circle"/>
          <p:cNvSpPr/>
          <p:nvPr/>
        </p:nvSpPr>
        <p:spPr>
          <a:xfrm>
            <a:off x="640080" y="1371600"/>
            <a:ext cx="457200" cy="457200"/>
          </a:xfrm>
          <a:prstGeom prst="ellipse">
            <a:avLst/>
          </a:prstGeom>
          <a:solidFill>
            <a:schemeClr val="accent1"/>
          </a:solidFill>
          <a:ln w="12700">
            <a:solidFill>
              <a:schemeClr val="accent1"/>
            </a:solidFill>
            <a:prstDash val="solid"/>
          </a:ln>
        </p:spPr>
      </p:sp>
      <p:pic>
        <p:nvPicPr>
          <p:cNvPr id="5" name="module icon 1" descr="preencoded.png">    </p:cNvPr>
          <p:cNvPicPr>
            <a:picLocks noChangeAspect="1"/>
          </p:cNvPicPr>
          <p:nvPr/>
        </p:nvPicPr>
        <p:blipFill>
          <a:blip r:embed="rId1"/>
          <a:stretch>
            <a:fillRect/>
          </a:stretch>
        </p:blipFill>
        <p:spPr>
          <a:xfrm>
            <a:off x="740664" y="1472184"/>
            <a:ext cx="256032" cy="256032"/>
          </a:xfrm>
          <a:prstGeom prst="rect">
            <a:avLst/>
          </a:prstGeom>
        </p:spPr>
      </p:pic>
      <p:sp>
        <p:nvSpPr>
          <p:cNvPr id="6" name="Text 3"/>
          <p:cNvSpPr txBox="1"/>
          <p:nvPr/>
        </p:nvSpPr>
        <p:spPr>
          <a:xfrm>
            <a:off x="640080" y="1920240"/>
            <a:ext cx="1600200" cy="320040"/>
          </a:xfrm>
          <a:prstGeom prst="rect">
            <a:avLst/>
          </a:prstGeom>
          <a:noFill/>
          <a:ln/>
        </p:spPr>
        <p:txBody>
          <a:bodyPr wrap="square" lIns="0" tIns="0" rIns="0" bIns="0" rtlCol="0" anchor="ctr"/>
          <a:lstStyle/>
          <a:p>
            <a:pPr indent="0" marL="0">
              <a:buNone/>
            </a:pPr>
            <a:r>
              <a:rPr lang="en-US" sz="1500" b="1" dirty="0">
                <a:solidFill>
                  <a:schemeClr val="tx1"/>
                </a:solidFill>
              </a:rPr>
              <a:t>User management</a:t>
            </a:r>
            <a:endParaRPr lang="en-US" sz="1500" dirty="0"/>
          </a:p>
        </p:txBody>
      </p:sp>
      <p:sp>
        <p:nvSpPr>
          <p:cNvPr id="7" name="Text 4"/>
          <p:cNvSpPr txBox="1"/>
          <p:nvPr/>
        </p:nvSpPr>
        <p:spPr>
          <a:xfrm>
            <a:off x="640080" y="2221992"/>
            <a:ext cx="1645920" cy="411480"/>
          </a:xfrm>
          <a:prstGeom prst="rect">
            <a:avLst/>
          </a:prstGeom>
          <a:noFill/>
          <a:ln/>
        </p:spPr>
        <p:txBody>
          <a:bodyPr wrap="square" lIns="0" tIns="0" rIns="0" bIns="0" rtlCol="0" anchor="t"/>
          <a:lstStyle/>
          <a:p>
            <a:pPr indent="0" marL="0">
              <a:buNone/>
            </a:pPr>
            <a:r>
              <a:rPr lang="en-US" sz="1100" dirty="0">
                <a:solidFill>
                  <a:schemeClr val="tx1"/>
                </a:solidFill>
              </a:rPr>
              <a:t>Sign-in, three roles, profiles, farms</a:t>
            </a:r>
            <a:endParaRPr lang="en-US" sz="1100" dirty="0"/>
          </a:p>
        </p:txBody>
      </p:sp>
      <p:sp>
        <p:nvSpPr>
          <p:cNvPr id="8" name="module card 2"/>
          <p:cNvSpPr/>
          <p:nvPr/>
        </p:nvSpPr>
        <p:spPr>
          <a:xfrm>
            <a:off x="2542032" y="1188720"/>
            <a:ext cx="1920240" cy="1508760"/>
          </a:xfrm>
          <a:prstGeom prst="roundRect">
            <a:avLst>
              <a:gd name="adj" fmla="val 4848"/>
            </a:avLst>
          </a:prstGeom>
          <a:solidFill>
            <a:schemeClr val="bg2"/>
          </a:solidFill>
          <a:ln w="12700">
            <a:solidFill>
              <a:schemeClr val="bg2"/>
            </a:solidFill>
            <a:prstDash val="solid"/>
          </a:ln>
        </p:spPr>
      </p:sp>
      <p:sp>
        <p:nvSpPr>
          <p:cNvPr id="9" name="module icon 2 circle"/>
          <p:cNvSpPr/>
          <p:nvPr/>
        </p:nvSpPr>
        <p:spPr>
          <a:xfrm>
            <a:off x="2724912" y="1371600"/>
            <a:ext cx="457200" cy="457200"/>
          </a:xfrm>
          <a:prstGeom prst="ellipse">
            <a:avLst/>
          </a:prstGeom>
          <a:solidFill>
            <a:schemeClr val="accent1"/>
          </a:solidFill>
          <a:ln w="12700">
            <a:solidFill>
              <a:schemeClr val="accent1"/>
            </a:solidFill>
            <a:prstDash val="solid"/>
          </a:ln>
        </p:spPr>
      </p:sp>
      <p:pic>
        <p:nvPicPr>
          <p:cNvPr id="10" name="module icon 2" descr="preencoded.png">    </p:cNvPr>
          <p:cNvPicPr>
            <a:picLocks noChangeAspect="1"/>
          </p:cNvPicPr>
          <p:nvPr/>
        </p:nvPicPr>
        <p:blipFill>
          <a:blip r:embed="rId2"/>
          <a:stretch>
            <a:fillRect/>
          </a:stretch>
        </p:blipFill>
        <p:spPr>
          <a:xfrm>
            <a:off x="2825496" y="1472184"/>
            <a:ext cx="256032" cy="256032"/>
          </a:xfrm>
          <a:prstGeom prst="rect">
            <a:avLst/>
          </a:prstGeom>
        </p:spPr>
      </p:pic>
      <p:sp>
        <p:nvSpPr>
          <p:cNvPr id="11" name="Text 7"/>
          <p:cNvSpPr txBox="1"/>
          <p:nvPr/>
        </p:nvSpPr>
        <p:spPr>
          <a:xfrm>
            <a:off x="2724912" y="1920240"/>
            <a:ext cx="1600200" cy="320040"/>
          </a:xfrm>
          <a:prstGeom prst="rect">
            <a:avLst/>
          </a:prstGeom>
          <a:noFill/>
          <a:ln/>
        </p:spPr>
        <p:txBody>
          <a:bodyPr wrap="square" lIns="0" tIns="0" rIns="0" bIns="0" rtlCol="0" anchor="ctr"/>
          <a:lstStyle/>
          <a:p>
            <a:pPr indent="0" marL="0">
              <a:buNone/>
            </a:pPr>
            <a:r>
              <a:rPr lang="en-US" sz="1500" b="1" dirty="0">
                <a:solidFill>
                  <a:schemeClr val="tx1"/>
                </a:solidFill>
              </a:rPr>
              <a:t>Data collection</a:t>
            </a:r>
            <a:endParaRPr lang="en-US" sz="1500" dirty="0"/>
          </a:p>
        </p:txBody>
      </p:sp>
      <p:sp>
        <p:nvSpPr>
          <p:cNvPr id="12" name="Text 8"/>
          <p:cNvSpPr txBox="1"/>
          <p:nvPr/>
        </p:nvSpPr>
        <p:spPr>
          <a:xfrm>
            <a:off x="2724912" y="2221992"/>
            <a:ext cx="1645920" cy="411480"/>
          </a:xfrm>
          <a:prstGeom prst="rect">
            <a:avLst/>
          </a:prstGeom>
          <a:noFill/>
          <a:ln/>
        </p:spPr>
        <p:txBody>
          <a:bodyPr wrap="square" lIns="0" tIns="0" rIns="0" bIns="0" rtlCol="0" anchor="t"/>
          <a:lstStyle/>
          <a:p>
            <a:pPr indent="0" marL="0">
              <a:buNone/>
            </a:pPr>
            <a:r>
              <a:rPr lang="en-US" sz="1100" dirty="0">
                <a:solidFill>
                  <a:schemeClr val="tx1"/>
                </a:solidFill>
              </a:rPr>
              <a:t>CSV/Excel import, soil tests, records</a:t>
            </a:r>
            <a:endParaRPr lang="en-US" sz="1100" dirty="0"/>
          </a:p>
        </p:txBody>
      </p:sp>
      <p:sp>
        <p:nvSpPr>
          <p:cNvPr id="13" name="module card 3"/>
          <p:cNvSpPr/>
          <p:nvPr/>
        </p:nvSpPr>
        <p:spPr>
          <a:xfrm>
            <a:off x="4626864" y="1188720"/>
            <a:ext cx="1920240" cy="1508760"/>
          </a:xfrm>
          <a:prstGeom prst="roundRect">
            <a:avLst>
              <a:gd name="adj" fmla="val 4848"/>
            </a:avLst>
          </a:prstGeom>
          <a:solidFill>
            <a:schemeClr val="bg2"/>
          </a:solidFill>
          <a:ln w="12700">
            <a:solidFill>
              <a:schemeClr val="bg2"/>
            </a:solidFill>
            <a:prstDash val="solid"/>
          </a:ln>
        </p:spPr>
      </p:sp>
      <p:sp>
        <p:nvSpPr>
          <p:cNvPr id="14" name="module icon 3 circle"/>
          <p:cNvSpPr/>
          <p:nvPr/>
        </p:nvSpPr>
        <p:spPr>
          <a:xfrm>
            <a:off x="4809744" y="1371600"/>
            <a:ext cx="457200" cy="457200"/>
          </a:xfrm>
          <a:prstGeom prst="ellipse">
            <a:avLst/>
          </a:prstGeom>
          <a:solidFill>
            <a:schemeClr val="accent1"/>
          </a:solidFill>
          <a:ln w="12700">
            <a:solidFill>
              <a:schemeClr val="accent1"/>
            </a:solidFill>
            <a:prstDash val="solid"/>
          </a:ln>
        </p:spPr>
      </p:sp>
      <p:pic>
        <p:nvPicPr>
          <p:cNvPr id="15" name="module icon 3" descr="preencoded.png">    </p:cNvPr>
          <p:cNvPicPr>
            <a:picLocks noChangeAspect="1"/>
          </p:cNvPicPr>
          <p:nvPr/>
        </p:nvPicPr>
        <p:blipFill>
          <a:blip r:embed="rId3"/>
          <a:stretch>
            <a:fillRect/>
          </a:stretch>
        </p:blipFill>
        <p:spPr>
          <a:xfrm>
            <a:off x="4910328" y="1472184"/>
            <a:ext cx="256032" cy="256032"/>
          </a:xfrm>
          <a:prstGeom prst="rect">
            <a:avLst/>
          </a:prstGeom>
        </p:spPr>
      </p:pic>
      <p:sp>
        <p:nvSpPr>
          <p:cNvPr id="16" name="Text 11"/>
          <p:cNvSpPr txBox="1"/>
          <p:nvPr/>
        </p:nvSpPr>
        <p:spPr>
          <a:xfrm>
            <a:off x="4809744" y="1920240"/>
            <a:ext cx="1600200" cy="320040"/>
          </a:xfrm>
          <a:prstGeom prst="rect">
            <a:avLst/>
          </a:prstGeom>
          <a:noFill/>
          <a:ln/>
        </p:spPr>
        <p:txBody>
          <a:bodyPr wrap="square" lIns="0" tIns="0" rIns="0" bIns="0" rtlCol="0" anchor="ctr"/>
          <a:lstStyle/>
          <a:p>
            <a:pPr indent="0" marL="0">
              <a:buNone/>
            </a:pPr>
            <a:r>
              <a:rPr lang="en-US" sz="1500" b="1" dirty="0">
                <a:solidFill>
                  <a:schemeClr val="tx1"/>
                </a:solidFill>
              </a:rPr>
              <a:t>Yield prediction</a:t>
            </a:r>
            <a:endParaRPr lang="en-US" sz="1500" dirty="0"/>
          </a:p>
        </p:txBody>
      </p:sp>
      <p:sp>
        <p:nvSpPr>
          <p:cNvPr id="17" name="Text 12"/>
          <p:cNvSpPr txBox="1"/>
          <p:nvPr/>
        </p:nvSpPr>
        <p:spPr>
          <a:xfrm>
            <a:off x="4809744" y="2221992"/>
            <a:ext cx="1645920" cy="411480"/>
          </a:xfrm>
          <a:prstGeom prst="rect">
            <a:avLst/>
          </a:prstGeom>
          <a:noFill/>
          <a:ln/>
        </p:spPr>
        <p:txBody>
          <a:bodyPr wrap="square" lIns="0" tIns="0" rIns="0" bIns="0" rtlCol="0" anchor="t"/>
          <a:lstStyle/>
          <a:p>
            <a:pPr indent="0" marL="0">
              <a:buNone/>
            </a:pPr>
            <a:r>
              <a:rPr lang="en-US" sz="1100" dirty="0">
                <a:solidFill>
                  <a:schemeClr val="tx1"/>
                </a:solidFill>
              </a:rPr>
              <a:t>XGBoost with a P10–P90 range</a:t>
            </a:r>
            <a:endParaRPr lang="en-US" sz="1100" dirty="0"/>
          </a:p>
        </p:txBody>
      </p:sp>
      <p:sp>
        <p:nvSpPr>
          <p:cNvPr id="18" name="module card 4"/>
          <p:cNvSpPr/>
          <p:nvPr/>
        </p:nvSpPr>
        <p:spPr>
          <a:xfrm>
            <a:off x="6711696" y="1188720"/>
            <a:ext cx="1920240" cy="1508760"/>
          </a:xfrm>
          <a:prstGeom prst="roundRect">
            <a:avLst>
              <a:gd name="adj" fmla="val 4848"/>
            </a:avLst>
          </a:prstGeom>
          <a:solidFill>
            <a:schemeClr val="bg2"/>
          </a:solidFill>
          <a:ln w="12700">
            <a:solidFill>
              <a:schemeClr val="bg2"/>
            </a:solidFill>
            <a:prstDash val="solid"/>
          </a:ln>
        </p:spPr>
      </p:sp>
      <p:sp>
        <p:nvSpPr>
          <p:cNvPr id="19" name="module icon 4 circle"/>
          <p:cNvSpPr/>
          <p:nvPr/>
        </p:nvSpPr>
        <p:spPr>
          <a:xfrm>
            <a:off x="6894576" y="1371600"/>
            <a:ext cx="457200" cy="457200"/>
          </a:xfrm>
          <a:prstGeom prst="ellipse">
            <a:avLst/>
          </a:prstGeom>
          <a:solidFill>
            <a:schemeClr val="accent1"/>
          </a:solidFill>
          <a:ln w="12700">
            <a:solidFill>
              <a:schemeClr val="accent1"/>
            </a:solidFill>
            <a:prstDash val="solid"/>
          </a:ln>
        </p:spPr>
      </p:sp>
      <p:pic>
        <p:nvPicPr>
          <p:cNvPr id="20" name="module icon 4" descr="preencoded.png">    </p:cNvPr>
          <p:cNvPicPr>
            <a:picLocks noChangeAspect="1"/>
          </p:cNvPicPr>
          <p:nvPr/>
        </p:nvPicPr>
        <p:blipFill>
          <a:blip r:embed="rId4"/>
          <a:stretch>
            <a:fillRect/>
          </a:stretch>
        </p:blipFill>
        <p:spPr>
          <a:xfrm>
            <a:off x="6995160" y="1472184"/>
            <a:ext cx="256032" cy="256032"/>
          </a:xfrm>
          <a:prstGeom prst="rect">
            <a:avLst/>
          </a:prstGeom>
        </p:spPr>
      </p:pic>
      <p:sp>
        <p:nvSpPr>
          <p:cNvPr id="21" name="Text 15"/>
          <p:cNvSpPr txBox="1"/>
          <p:nvPr/>
        </p:nvSpPr>
        <p:spPr>
          <a:xfrm>
            <a:off x="6894576" y="1920240"/>
            <a:ext cx="1600200" cy="320040"/>
          </a:xfrm>
          <a:prstGeom prst="rect">
            <a:avLst/>
          </a:prstGeom>
          <a:noFill/>
          <a:ln/>
        </p:spPr>
        <p:txBody>
          <a:bodyPr wrap="square" lIns="0" tIns="0" rIns="0" bIns="0" rtlCol="0" anchor="ctr"/>
          <a:lstStyle/>
          <a:p>
            <a:pPr indent="0" marL="0">
              <a:buNone/>
            </a:pPr>
            <a:r>
              <a:rPr lang="en-US" sz="1500" b="1" dirty="0">
                <a:solidFill>
                  <a:schemeClr val="tx1"/>
                </a:solidFill>
              </a:rPr>
              <a:t>Weather analysis</a:t>
            </a:r>
            <a:endParaRPr lang="en-US" sz="1500" dirty="0"/>
          </a:p>
        </p:txBody>
      </p:sp>
      <p:sp>
        <p:nvSpPr>
          <p:cNvPr id="22" name="Text 16"/>
          <p:cNvSpPr txBox="1"/>
          <p:nvPr/>
        </p:nvSpPr>
        <p:spPr>
          <a:xfrm>
            <a:off x="6894576" y="2221992"/>
            <a:ext cx="1645920" cy="411480"/>
          </a:xfrm>
          <a:prstGeom prst="rect">
            <a:avLst/>
          </a:prstGeom>
          <a:noFill/>
          <a:ln/>
        </p:spPr>
        <p:txBody>
          <a:bodyPr wrap="square" lIns="0" tIns="0" rIns="0" bIns="0" rtlCol="0" anchor="t"/>
          <a:lstStyle/>
          <a:p>
            <a:pPr indent="0" marL="0">
              <a:buNone/>
            </a:pPr>
            <a:r>
              <a:rPr lang="en-US" sz="1100" dirty="0">
                <a:solidFill>
                  <a:schemeClr val="tx1"/>
                </a:solidFill>
              </a:rPr>
              <a:t>Live forecast, ERA5 climate trend</a:t>
            </a:r>
            <a:endParaRPr lang="en-US" sz="1100" dirty="0"/>
          </a:p>
        </p:txBody>
      </p:sp>
      <p:sp>
        <p:nvSpPr>
          <p:cNvPr id="23" name="module card 5"/>
          <p:cNvSpPr/>
          <p:nvPr/>
        </p:nvSpPr>
        <p:spPr>
          <a:xfrm>
            <a:off x="457200" y="2880360"/>
            <a:ext cx="1920240" cy="1508760"/>
          </a:xfrm>
          <a:prstGeom prst="roundRect">
            <a:avLst>
              <a:gd name="adj" fmla="val 4848"/>
            </a:avLst>
          </a:prstGeom>
          <a:solidFill>
            <a:schemeClr val="bg2"/>
          </a:solidFill>
          <a:ln w="12700">
            <a:solidFill>
              <a:schemeClr val="bg2"/>
            </a:solidFill>
            <a:prstDash val="solid"/>
          </a:ln>
        </p:spPr>
      </p:sp>
      <p:sp>
        <p:nvSpPr>
          <p:cNvPr id="24" name="module icon 5 circle"/>
          <p:cNvSpPr/>
          <p:nvPr/>
        </p:nvSpPr>
        <p:spPr>
          <a:xfrm>
            <a:off x="640080" y="3063240"/>
            <a:ext cx="457200" cy="457200"/>
          </a:xfrm>
          <a:prstGeom prst="ellipse">
            <a:avLst/>
          </a:prstGeom>
          <a:solidFill>
            <a:schemeClr val="accent1"/>
          </a:solidFill>
          <a:ln w="12700">
            <a:solidFill>
              <a:schemeClr val="accent1"/>
            </a:solidFill>
            <a:prstDash val="solid"/>
          </a:ln>
        </p:spPr>
      </p:sp>
      <p:pic>
        <p:nvPicPr>
          <p:cNvPr id="25" name="module icon 5" descr="preencoded.png">    </p:cNvPr>
          <p:cNvPicPr>
            <a:picLocks noChangeAspect="1"/>
          </p:cNvPicPr>
          <p:nvPr/>
        </p:nvPicPr>
        <p:blipFill>
          <a:blip r:embed="rId5"/>
          <a:stretch>
            <a:fillRect/>
          </a:stretch>
        </p:blipFill>
        <p:spPr>
          <a:xfrm>
            <a:off x="740664" y="3163824"/>
            <a:ext cx="256032" cy="256032"/>
          </a:xfrm>
          <a:prstGeom prst="rect">
            <a:avLst/>
          </a:prstGeom>
        </p:spPr>
      </p:pic>
      <p:sp>
        <p:nvSpPr>
          <p:cNvPr id="26" name="Text 19"/>
          <p:cNvSpPr txBox="1"/>
          <p:nvPr/>
        </p:nvSpPr>
        <p:spPr>
          <a:xfrm>
            <a:off x="640080" y="3611880"/>
            <a:ext cx="1600200" cy="320040"/>
          </a:xfrm>
          <a:prstGeom prst="rect">
            <a:avLst/>
          </a:prstGeom>
          <a:noFill/>
          <a:ln/>
        </p:spPr>
        <p:txBody>
          <a:bodyPr wrap="square" lIns="0" tIns="0" rIns="0" bIns="0" rtlCol="0" anchor="ctr"/>
          <a:lstStyle/>
          <a:p>
            <a:pPr indent="0" marL="0">
              <a:buNone/>
            </a:pPr>
            <a:r>
              <a:rPr lang="en-US" sz="1500" b="1" dirty="0">
                <a:solidFill>
                  <a:schemeClr val="tx1"/>
                </a:solidFill>
              </a:rPr>
              <a:t>Soil analysis</a:t>
            </a:r>
            <a:endParaRPr lang="en-US" sz="1500" dirty="0"/>
          </a:p>
        </p:txBody>
      </p:sp>
      <p:sp>
        <p:nvSpPr>
          <p:cNvPr id="27" name="Text 20"/>
          <p:cNvSpPr txBox="1"/>
          <p:nvPr/>
        </p:nvSpPr>
        <p:spPr>
          <a:xfrm>
            <a:off x="640080" y="3913632"/>
            <a:ext cx="1645920" cy="411480"/>
          </a:xfrm>
          <a:prstGeom prst="rect">
            <a:avLst/>
          </a:prstGeom>
          <a:noFill/>
          <a:ln/>
        </p:spPr>
        <p:txBody>
          <a:bodyPr wrap="square" lIns="0" tIns="0" rIns="0" bIns="0" rtlCol="0" anchor="t"/>
          <a:lstStyle/>
          <a:p>
            <a:pPr indent="0" marL="0">
              <a:buNone/>
            </a:pPr>
            <a:r>
              <a:rPr lang="en-US" sz="1100" dirty="0">
                <a:solidFill>
                  <a:schemeClr val="tx1"/>
                </a:solidFill>
              </a:rPr>
              <a:t>SoilGrids soil, nutrient ratings</a:t>
            </a:r>
            <a:endParaRPr lang="en-US" sz="1100" dirty="0"/>
          </a:p>
        </p:txBody>
      </p:sp>
      <p:sp>
        <p:nvSpPr>
          <p:cNvPr id="28" name="module card 6"/>
          <p:cNvSpPr/>
          <p:nvPr/>
        </p:nvSpPr>
        <p:spPr>
          <a:xfrm>
            <a:off x="2542032" y="2880360"/>
            <a:ext cx="1920240" cy="1508760"/>
          </a:xfrm>
          <a:prstGeom prst="roundRect">
            <a:avLst>
              <a:gd name="adj" fmla="val 4848"/>
            </a:avLst>
          </a:prstGeom>
          <a:solidFill>
            <a:schemeClr val="bg2"/>
          </a:solidFill>
          <a:ln w="12700">
            <a:solidFill>
              <a:schemeClr val="bg2"/>
            </a:solidFill>
            <a:prstDash val="solid"/>
          </a:ln>
        </p:spPr>
      </p:sp>
      <p:sp>
        <p:nvSpPr>
          <p:cNvPr id="29" name="module icon 6 circle"/>
          <p:cNvSpPr/>
          <p:nvPr/>
        </p:nvSpPr>
        <p:spPr>
          <a:xfrm>
            <a:off x="2724912" y="3063240"/>
            <a:ext cx="457200" cy="457200"/>
          </a:xfrm>
          <a:prstGeom prst="ellipse">
            <a:avLst/>
          </a:prstGeom>
          <a:solidFill>
            <a:schemeClr val="accent1"/>
          </a:solidFill>
          <a:ln w="12700">
            <a:solidFill>
              <a:schemeClr val="accent1"/>
            </a:solidFill>
            <a:prstDash val="solid"/>
          </a:ln>
        </p:spPr>
      </p:sp>
      <p:pic>
        <p:nvPicPr>
          <p:cNvPr id="30" name="module icon 6" descr="preencoded.png">    </p:cNvPr>
          <p:cNvPicPr>
            <a:picLocks noChangeAspect="1"/>
          </p:cNvPicPr>
          <p:nvPr/>
        </p:nvPicPr>
        <p:blipFill>
          <a:blip r:embed="rId6"/>
          <a:stretch>
            <a:fillRect/>
          </a:stretch>
        </p:blipFill>
        <p:spPr>
          <a:xfrm>
            <a:off x="2825496" y="3163824"/>
            <a:ext cx="256032" cy="256032"/>
          </a:xfrm>
          <a:prstGeom prst="rect">
            <a:avLst/>
          </a:prstGeom>
        </p:spPr>
      </p:pic>
      <p:sp>
        <p:nvSpPr>
          <p:cNvPr id="31" name="Text 23"/>
          <p:cNvSpPr txBox="1"/>
          <p:nvPr/>
        </p:nvSpPr>
        <p:spPr>
          <a:xfrm>
            <a:off x="2724912" y="3611880"/>
            <a:ext cx="1600200" cy="320040"/>
          </a:xfrm>
          <a:prstGeom prst="rect">
            <a:avLst/>
          </a:prstGeom>
          <a:noFill/>
          <a:ln/>
        </p:spPr>
        <p:txBody>
          <a:bodyPr wrap="square" lIns="0" tIns="0" rIns="0" bIns="0" rtlCol="0" anchor="ctr"/>
          <a:lstStyle/>
          <a:p>
            <a:pPr indent="0" marL="0">
              <a:buNone/>
            </a:pPr>
            <a:r>
              <a:rPr lang="en-US" sz="1500" b="1" dirty="0">
                <a:solidFill>
                  <a:schemeClr val="tx1"/>
                </a:solidFill>
              </a:rPr>
              <a:t>Analytics</a:t>
            </a:r>
            <a:endParaRPr lang="en-US" sz="1500" dirty="0"/>
          </a:p>
        </p:txBody>
      </p:sp>
      <p:sp>
        <p:nvSpPr>
          <p:cNvPr id="32" name="Text 24"/>
          <p:cNvSpPr txBox="1"/>
          <p:nvPr/>
        </p:nvSpPr>
        <p:spPr>
          <a:xfrm>
            <a:off x="2724912" y="3913632"/>
            <a:ext cx="1645920" cy="411480"/>
          </a:xfrm>
          <a:prstGeom prst="rect">
            <a:avLst/>
          </a:prstGeom>
          <a:noFill/>
          <a:ln/>
        </p:spPr>
        <p:txBody>
          <a:bodyPr wrap="square" lIns="0" tIns="0" rIns="0" bIns="0" rtlCol="0" anchor="t"/>
          <a:lstStyle/>
          <a:p>
            <a:pPr indent="0" marL="0">
              <a:buNone/>
            </a:pPr>
            <a:r>
              <a:rPr lang="en-US" sz="1100" dirty="0">
                <a:solidFill>
                  <a:schemeClr val="tx1"/>
                </a:solidFill>
              </a:rPr>
              <a:t>Trends, farm comparison, reports</a:t>
            </a:r>
            <a:endParaRPr lang="en-US" sz="1100" dirty="0"/>
          </a:p>
        </p:txBody>
      </p:sp>
      <p:sp>
        <p:nvSpPr>
          <p:cNvPr id="33" name="module card 7"/>
          <p:cNvSpPr/>
          <p:nvPr/>
        </p:nvSpPr>
        <p:spPr>
          <a:xfrm>
            <a:off x="4626864" y="2880360"/>
            <a:ext cx="1920240" cy="1508760"/>
          </a:xfrm>
          <a:prstGeom prst="roundRect">
            <a:avLst>
              <a:gd name="adj" fmla="val 4848"/>
            </a:avLst>
          </a:prstGeom>
          <a:solidFill>
            <a:schemeClr val="bg2"/>
          </a:solidFill>
          <a:ln w="12700">
            <a:solidFill>
              <a:schemeClr val="bg2"/>
            </a:solidFill>
            <a:prstDash val="solid"/>
          </a:ln>
        </p:spPr>
      </p:sp>
      <p:sp>
        <p:nvSpPr>
          <p:cNvPr id="34" name="module icon 7 circle"/>
          <p:cNvSpPr/>
          <p:nvPr/>
        </p:nvSpPr>
        <p:spPr>
          <a:xfrm>
            <a:off x="4809744" y="3063240"/>
            <a:ext cx="457200" cy="457200"/>
          </a:xfrm>
          <a:prstGeom prst="ellipse">
            <a:avLst/>
          </a:prstGeom>
          <a:solidFill>
            <a:schemeClr val="accent1"/>
          </a:solidFill>
          <a:ln w="12700">
            <a:solidFill>
              <a:schemeClr val="accent1"/>
            </a:solidFill>
            <a:prstDash val="solid"/>
          </a:ln>
        </p:spPr>
      </p:sp>
      <p:pic>
        <p:nvPicPr>
          <p:cNvPr id="35" name="module icon 7" descr="preencoded.png">    </p:cNvPr>
          <p:cNvPicPr>
            <a:picLocks noChangeAspect="1"/>
          </p:cNvPicPr>
          <p:nvPr/>
        </p:nvPicPr>
        <p:blipFill>
          <a:blip r:embed="rId7"/>
          <a:stretch>
            <a:fillRect/>
          </a:stretch>
        </p:blipFill>
        <p:spPr>
          <a:xfrm>
            <a:off x="4910328" y="3163824"/>
            <a:ext cx="256032" cy="256032"/>
          </a:xfrm>
          <a:prstGeom prst="rect">
            <a:avLst/>
          </a:prstGeom>
        </p:spPr>
      </p:pic>
      <p:sp>
        <p:nvSpPr>
          <p:cNvPr id="36" name="Text 27"/>
          <p:cNvSpPr txBox="1"/>
          <p:nvPr/>
        </p:nvSpPr>
        <p:spPr>
          <a:xfrm>
            <a:off x="4809744" y="3611880"/>
            <a:ext cx="1600200" cy="320040"/>
          </a:xfrm>
          <a:prstGeom prst="rect">
            <a:avLst/>
          </a:prstGeom>
          <a:noFill/>
          <a:ln/>
        </p:spPr>
        <p:txBody>
          <a:bodyPr wrap="square" lIns="0" tIns="0" rIns="0" bIns="0" rtlCol="0" anchor="ctr"/>
          <a:lstStyle/>
          <a:p>
            <a:pPr indent="0" marL="0">
              <a:buNone/>
            </a:pPr>
            <a:r>
              <a:rPr lang="en-US" sz="1500" b="1" dirty="0">
                <a:solidFill>
                  <a:schemeClr val="tx1"/>
                </a:solidFill>
              </a:rPr>
              <a:t>Recommendations</a:t>
            </a:r>
            <a:endParaRPr lang="en-US" sz="1500" dirty="0"/>
          </a:p>
        </p:txBody>
      </p:sp>
      <p:sp>
        <p:nvSpPr>
          <p:cNvPr id="37" name="Text 28"/>
          <p:cNvSpPr txBox="1"/>
          <p:nvPr/>
        </p:nvSpPr>
        <p:spPr>
          <a:xfrm>
            <a:off x="4809744" y="3913632"/>
            <a:ext cx="1645920" cy="411480"/>
          </a:xfrm>
          <a:prstGeom prst="rect">
            <a:avLst/>
          </a:prstGeom>
          <a:noFill/>
          <a:ln/>
        </p:spPr>
        <p:txBody>
          <a:bodyPr wrap="square" lIns="0" tIns="0" rIns="0" bIns="0" rtlCol="0" anchor="t"/>
          <a:lstStyle/>
          <a:p>
            <a:pPr indent="0" marL="0">
              <a:buNone/>
            </a:pPr>
            <a:r>
              <a:rPr lang="en-US" sz="1100" dirty="0">
                <a:solidFill>
                  <a:schemeClr val="tx1"/>
                </a:solidFill>
              </a:rPr>
              <a:t>Rules, model impact, AI rationale</a:t>
            </a:r>
            <a:endParaRPr lang="en-US" sz="1100" dirty="0"/>
          </a:p>
        </p:txBody>
      </p:sp>
      <p:sp>
        <p:nvSpPr>
          <p:cNvPr id="38" name="module card 8"/>
          <p:cNvSpPr/>
          <p:nvPr/>
        </p:nvSpPr>
        <p:spPr>
          <a:xfrm>
            <a:off x="6711696" y="2880360"/>
            <a:ext cx="1920240" cy="1508760"/>
          </a:xfrm>
          <a:prstGeom prst="roundRect">
            <a:avLst>
              <a:gd name="adj" fmla="val 4848"/>
            </a:avLst>
          </a:prstGeom>
          <a:solidFill>
            <a:schemeClr val="bg2"/>
          </a:solidFill>
          <a:ln w="12700">
            <a:solidFill>
              <a:schemeClr val="bg2"/>
            </a:solidFill>
            <a:prstDash val="solid"/>
          </a:ln>
        </p:spPr>
      </p:sp>
      <p:sp>
        <p:nvSpPr>
          <p:cNvPr id="39" name="module icon 8 circle"/>
          <p:cNvSpPr/>
          <p:nvPr/>
        </p:nvSpPr>
        <p:spPr>
          <a:xfrm>
            <a:off x="6894576" y="3063240"/>
            <a:ext cx="457200" cy="457200"/>
          </a:xfrm>
          <a:prstGeom prst="ellipse">
            <a:avLst/>
          </a:prstGeom>
          <a:solidFill>
            <a:schemeClr val="accent1"/>
          </a:solidFill>
          <a:ln w="12700">
            <a:solidFill>
              <a:schemeClr val="accent1"/>
            </a:solidFill>
            <a:prstDash val="solid"/>
          </a:ln>
        </p:spPr>
      </p:sp>
      <p:pic>
        <p:nvPicPr>
          <p:cNvPr id="40" name="module icon 8" descr="preencoded.png">    </p:cNvPr>
          <p:cNvPicPr>
            <a:picLocks noChangeAspect="1"/>
          </p:cNvPicPr>
          <p:nvPr/>
        </p:nvPicPr>
        <p:blipFill>
          <a:blip r:embed="rId8"/>
          <a:stretch>
            <a:fillRect/>
          </a:stretch>
        </p:blipFill>
        <p:spPr>
          <a:xfrm>
            <a:off x="6995160" y="3163824"/>
            <a:ext cx="256032" cy="256032"/>
          </a:xfrm>
          <a:prstGeom prst="rect">
            <a:avLst/>
          </a:prstGeom>
        </p:spPr>
      </p:pic>
      <p:sp>
        <p:nvSpPr>
          <p:cNvPr id="41" name="Text 31"/>
          <p:cNvSpPr txBox="1"/>
          <p:nvPr/>
        </p:nvSpPr>
        <p:spPr>
          <a:xfrm>
            <a:off x="6894576" y="3611880"/>
            <a:ext cx="1600200" cy="320040"/>
          </a:xfrm>
          <a:prstGeom prst="rect">
            <a:avLst/>
          </a:prstGeom>
          <a:noFill/>
          <a:ln/>
        </p:spPr>
        <p:txBody>
          <a:bodyPr wrap="square" lIns="0" tIns="0" rIns="0" bIns="0" rtlCol="0" anchor="ctr"/>
          <a:lstStyle/>
          <a:p>
            <a:pPr indent="0" marL="0">
              <a:buNone/>
            </a:pPr>
            <a:r>
              <a:rPr lang="en-US" sz="1500" b="1" dirty="0">
                <a:solidFill>
                  <a:schemeClr val="tx1"/>
                </a:solidFill>
              </a:rPr>
              <a:t>Risk assessment</a:t>
            </a:r>
            <a:endParaRPr lang="en-US" sz="1500" dirty="0"/>
          </a:p>
        </p:txBody>
      </p:sp>
      <p:sp>
        <p:nvSpPr>
          <p:cNvPr id="42" name="Text 32"/>
          <p:cNvSpPr txBox="1"/>
          <p:nvPr/>
        </p:nvSpPr>
        <p:spPr>
          <a:xfrm>
            <a:off x="6894576" y="3913632"/>
            <a:ext cx="1645920" cy="411480"/>
          </a:xfrm>
          <a:prstGeom prst="rect">
            <a:avLst/>
          </a:prstGeom>
          <a:noFill/>
          <a:ln/>
        </p:spPr>
        <p:txBody>
          <a:bodyPr wrap="square" lIns="0" tIns="0" rIns="0" bIns="0" rtlCol="0" anchor="t"/>
          <a:lstStyle/>
          <a:p>
            <a:pPr indent="0" marL="0">
              <a:buNone/>
            </a:pPr>
            <a:r>
              <a:rPr lang="en-US" sz="1100" dirty="0">
                <a:solidFill>
                  <a:schemeClr val="tx1"/>
                </a:solidFill>
              </a:rPr>
              <a:t>Matrix, timeline, anomalies</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Architecture</a:t>
            </a:r>
            <a:endParaRPr lang="en-US" sz="2800" dirty="0"/>
          </a:p>
        </p:txBody>
      </p:sp>
      <p:sp>
        <p:nvSpPr>
          <p:cNvPr id="3" name="browser box"/>
          <p:cNvSpPr/>
          <p:nvPr/>
        </p:nvSpPr>
        <p:spPr>
          <a:xfrm>
            <a:off x="457200" y="1828800"/>
            <a:ext cx="1737360" cy="1097280"/>
          </a:xfrm>
          <a:prstGeom prst="roundRect">
            <a:avLst>
              <a:gd name="adj" fmla="val 6667"/>
            </a:avLst>
          </a:prstGeom>
          <a:solidFill>
            <a:schemeClr val="accent3"/>
          </a:solidFill>
          <a:ln w="12700">
            <a:solidFill>
              <a:schemeClr val="accent3"/>
            </a:solidFill>
            <a:prstDash val="solid"/>
          </a:ln>
        </p:spPr>
      </p:sp>
      <p:sp>
        <p:nvSpPr>
          <p:cNvPr id="4" name="Text 2"/>
          <p:cNvSpPr txBox="1"/>
          <p:nvPr/>
        </p:nvSpPr>
        <p:spPr>
          <a:xfrm>
            <a:off x="566928" y="1901952"/>
            <a:ext cx="1517904" cy="950976"/>
          </a:xfrm>
          <a:prstGeom prst="rect">
            <a:avLst/>
          </a:prstGeom>
          <a:noFill/>
          <a:ln/>
        </p:spPr>
        <p:txBody>
          <a:bodyPr wrap="square" lIns="0" tIns="0" rIns="0" bIns="0" rtlCol="0" anchor="ctr"/>
          <a:lstStyle/>
          <a:p>
            <a:pPr algn="ctr" indent="0" marL="0">
              <a:buNone/>
            </a:pPr>
            <a:r>
              <a:rPr lang="en-US" sz="1400" b="1" dirty="0">
                <a:solidFill>
                  <a:schemeClr val="bg1"/>
                </a:solidFill>
              </a:rPr>
              <a:t>Browser</a:t>
            </a:r>
            <a:endParaRPr lang="en-US" sz="1400" dirty="0"/>
          </a:p>
          <a:p>
            <a:pPr algn="ctr" indent="0" marL="0">
              <a:buNone/>
            </a:pPr>
            <a:r>
              <a:rPr lang="en-US" sz="1100" dirty="0">
                <a:solidFill>
                  <a:schemeClr val="bg1"/>
                </a:solidFill>
              </a:rPr>
              <a:t>React 19 · TypeScript</a:t>
            </a:r>
            <a:endParaRPr lang="en-US" sz="1400" dirty="0"/>
          </a:p>
        </p:txBody>
      </p:sp>
      <p:sp>
        <p:nvSpPr>
          <p:cNvPr id="5" name="nginx box"/>
          <p:cNvSpPr/>
          <p:nvPr/>
        </p:nvSpPr>
        <p:spPr>
          <a:xfrm>
            <a:off x="2651760" y="1828800"/>
            <a:ext cx="1554480" cy="1097280"/>
          </a:xfrm>
          <a:prstGeom prst="roundRect">
            <a:avLst>
              <a:gd name="adj" fmla="val 6667"/>
            </a:avLst>
          </a:prstGeom>
          <a:solidFill>
            <a:schemeClr val="tx2"/>
          </a:solidFill>
          <a:ln w="12700">
            <a:solidFill>
              <a:schemeClr val="tx2"/>
            </a:solidFill>
            <a:prstDash val="solid"/>
          </a:ln>
        </p:spPr>
      </p:sp>
      <p:sp>
        <p:nvSpPr>
          <p:cNvPr id="6" name="Text 4"/>
          <p:cNvSpPr txBox="1"/>
          <p:nvPr/>
        </p:nvSpPr>
        <p:spPr>
          <a:xfrm>
            <a:off x="2761488" y="1901952"/>
            <a:ext cx="1335024" cy="950976"/>
          </a:xfrm>
          <a:prstGeom prst="rect">
            <a:avLst/>
          </a:prstGeom>
          <a:noFill/>
          <a:ln/>
        </p:spPr>
        <p:txBody>
          <a:bodyPr wrap="square" lIns="0" tIns="0" rIns="0" bIns="0" rtlCol="0" anchor="ctr"/>
          <a:lstStyle/>
          <a:p>
            <a:pPr algn="ctr" indent="0" marL="0">
              <a:buNone/>
            </a:pPr>
            <a:r>
              <a:rPr lang="en-US" sz="1400" b="1" dirty="0">
                <a:solidFill>
                  <a:schemeClr val="bg1"/>
                </a:solidFill>
              </a:rPr>
              <a:t>Nginx</a:t>
            </a:r>
            <a:endParaRPr lang="en-US" sz="1400" dirty="0"/>
          </a:p>
          <a:p>
            <a:pPr algn="ctr" indent="0" marL="0">
              <a:buNone/>
            </a:pPr>
            <a:r>
              <a:rPr lang="en-US" sz="1100" dirty="0">
                <a:solidFill>
                  <a:schemeClr val="bg1"/>
                </a:solidFill>
              </a:rPr>
              <a:t>web app + /api proxy</a:t>
            </a:r>
            <a:endParaRPr lang="en-US" sz="1400" dirty="0"/>
          </a:p>
        </p:txBody>
      </p:sp>
      <p:sp>
        <p:nvSpPr>
          <p:cNvPr id="7" name="api box"/>
          <p:cNvSpPr/>
          <p:nvPr/>
        </p:nvSpPr>
        <p:spPr>
          <a:xfrm>
            <a:off x="4663440" y="1325880"/>
            <a:ext cx="1920240" cy="2103120"/>
          </a:xfrm>
          <a:prstGeom prst="roundRect">
            <a:avLst>
              <a:gd name="adj" fmla="val 3810"/>
            </a:avLst>
          </a:prstGeom>
          <a:solidFill>
            <a:schemeClr val="accent1"/>
          </a:solidFill>
          <a:ln w="12700">
            <a:solidFill>
              <a:schemeClr val="accent1"/>
            </a:solidFill>
            <a:prstDash val="solid"/>
          </a:ln>
        </p:spPr>
      </p:sp>
      <p:sp>
        <p:nvSpPr>
          <p:cNvPr id="8" name="Text 6"/>
          <p:cNvSpPr txBox="1"/>
          <p:nvPr/>
        </p:nvSpPr>
        <p:spPr>
          <a:xfrm>
            <a:off x="4773168" y="1399032"/>
            <a:ext cx="1700784" cy="1956816"/>
          </a:xfrm>
          <a:prstGeom prst="rect">
            <a:avLst/>
          </a:prstGeom>
          <a:noFill/>
          <a:ln/>
        </p:spPr>
        <p:txBody>
          <a:bodyPr wrap="square" lIns="0" tIns="0" rIns="0" bIns="0" rtlCol="0" anchor="ctr"/>
          <a:lstStyle/>
          <a:p>
            <a:pPr algn="ctr" indent="0" marL="0">
              <a:buNone/>
            </a:pPr>
            <a:r>
              <a:rPr lang="en-US" sz="1400" b="1" dirty="0">
                <a:solidFill>
                  <a:schemeClr val="bg1"/>
                </a:solidFill>
              </a:rPr>
              <a:t>FastAPI</a:t>
            </a:r>
            <a:endParaRPr lang="en-US" sz="1400" dirty="0"/>
          </a:p>
          <a:p>
            <a:pPr algn="ctr" indent="0" marL="0">
              <a:buNone/>
            </a:pPr>
            <a:r>
              <a:rPr lang="en-US" sz="1100" dirty="0">
                <a:solidFill>
                  <a:schemeClr val="bg1"/>
                </a:solidFill>
              </a:rPr>
              <a:t>auth · prediction · farms · risk · weather · soil · reports</a:t>
            </a:r>
            <a:endParaRPr lang="en-US" sz="1400" dirty="0"/>
          </a:p>
        </p:txBody>
      </p:sp>
      <p:sp>
        <p:nvSpPr>
          <p:cNvPr id="9" name="postgres box"/>
          <p:cNvSpPr/>
          <p:nvPr/>
        </p:nvSpPr>
        <p:spPr>
          <a:xfrm>
            <a:off x="7040880" y="1143000"/>
            <a:ext cx="1645920" cy="731520"/>
          </a:xfrm>
          <a:prstGeom prst="roundRect">
            <a:avLst>
              <a:gd name="adj" fmla="val 10000"/>
            </a:avLst>
          </a:prstGeom>
          <a:solidFill>
            <a:schemeClr val="accent4"/>
          </a:solidFill>
          <a:ln w="12700">
            <a:solidFill>
              <a:schemeClr val="accent4"/>
            </a:solidFill>
            <a:prstDash val="solid"/>
          </a:ln>
        </p:spPr>
      </p:sp>
      <p:sp>
        <p:nvSpPr>
          <p:cNvPr id="10" name="Text 8"/>
          <p:cNvSpPr txBox="1"/>
          <p:nvPr/>
        </p:nvSpPr>
        <p:spPr>
          <a:xfrm>
            <a:off x="7150608" y="1216152"/>
            <a:ext cx="1426464" cy="585216"/>
          </a:xfrm>
          <a:prstGeom prst="rect">
            <a:avLst/>
          </a:prstGeom>
          <a:noFill/>
          <a:ln/>
        </p:spPr>
        <p:txBody>
          <a:bodyPr wrap="square" lIns="0" tIns="0" rIns="0" bIns="0" rtlCol="0" anchor="ctr"/>
          <a:lstStyle/>
          <a:p>
            <a:pPr algn="ctr" indent="0" marL="0">
              <a:buNone/>
            </a:pPr>
            <a:r>
              <a:rPr lang="en-US" sz="1400" b="1" dirty="0">
                <a:solidFill>
                  <a:schemeClr val="bg1"/>
                </a:solidFill>
              </a:rPr>
              <a:t>PostgreSQL</a:t>
            </a:r>
            <a:endParaRPr lang="en-US" sz="1400" dirty="0"/>
          </a:p>
          <a:p>
            <a:pPr algn="ctr" indent="0" marL="0">
              <a:buNone/>
            </a:pPr>
            <a:r>
              <a:rPr lang="en-US" sz="1100" dirty="0">
                <a:solidFill>
                  <a:schemeClr val="bg1"/>
                </a:solidFill>
              </a:rPr>
              <a:t>users · farms · records</a:t>
            </a:r>
            <a:endParaRPr lang="en-US" sz="1400" dirty="0"/>
          </a:p>
        </p:txBody>
      </p:sp>
      <p:sp>
        <p:nvSpPr>
          <p:cNvPr id="11" name="mongo box"/>
          <p:cNvSpPr/>
          <p:nvPr/>
        </p:nvSpPr>
        <p:spPr>
          <a:xfrm>
            <a:off x="7040880" y="2011680"/>
            <a:ext cx="1645920" cy="731520"/>
          </a:xfrm>
          <a:prstGeom prst="roundRect">
            <a:avLst>
              <a:gd name="adj" fmla="val 10000"/>
            </a:avLst>
          </a:prstGeom>
          <a:solidFill>
            <a:schemeClr val="accent4"/>
          </a:solidFill>
          <a:ln w="12700">
            <a:solidFill>
              <a:schemeClr val="accent4"/>
            </a:solidFill>
            <a:prstDash val="solid"/>
          </a:ln>
        </p:spPr>
      </p:sp>
      <p:sp>
        <p:nvSpPr>
          <p:cNvPr id="12" name="Text 10"/>
          <p:cNvSpPr txBox="1"/>
          <p:nvPr/>
        </p:nvSpPr>
        <p:spPr>
          <a:xfrm>
            <a:off x="7150608" y="2084832"/>
            <a:ext cx="1426464" cy="585216"/>
          </a:xfrm>
          <a:prstGeom prst="rect">
            <a:avLst/>
          </a:prstGeom>
          <a:noFill/>
          <a:ln/>
        </p:spPr>
        <p:txBody>
          <a:bodyPr wrap="square" lIns="0" tIns="0" rIns="0" bIns="0" rtlCol="0" anchor="ctr"/>
          <a:lstStyle/>
          <a:p>
            <a:pPr algn="ctr" indent="0" marL="0">
              <a:buNone/>
            </a:pPr>
            <a:r>
              <a:rPr lang="en-US" sz="1400" b="1" dirty="0">
                <a:solidFill>
                  <a:schemeClr val="bg1"/>
                </a:solidFill>
              </a:rPr>
              <a:t>MongoDB</a:t>
            </a:r>
            <a:endParaRPr lang="en-US" sz="1400" dirty="0"/>
          </a:p>
          <a:p>
            <a:pPr algn="ctr" indent="0" marL="0">
              <a:buNone/>
            </a:pPr>
            <a:r>
              <a:rPr lang="en-US" sz="1100" dirty="0">
                <a:solidFill>
                  <a:schemeClr val="bg1"/>
                </a:solidFill>
              </a:rPr>
              <a:t>uploads · caches</a:t>
            </a:r>
            <a:endParaRPr lang="en-US" sz="1400" dirty="0"/>
          </a:p>
        </p:txBody>
      </p:sp>
      <p:sp>
        <p:nvSpPr>
          <p:cNvPr id="13" name="model box"/>
          <p:cNvSpPr/>
          <p:nvPr/>
        </p:nvSpPr>
        <p:spPr>
          <a:xfrm>
            <a:off x="7040880" y="2880360"/>
            <a:ext cx="1645920" cy="731520"/>
          </a:xfrm>
          <a:prstGeom prst="roundRect">
            <a:avLst>
              <a:gd name="adj" fmla="val 10000"/>
            </a:avLst>
          </a:prstGeom>
          <a:solidFill>
            <a:schemeClr val="accent2"/>
          </a:solidFill>
          <a:ln w="12700">
            <a:solidFill>
              <a:schemeClr val="accent2"/>
            </a:solidFill>
            <a:prstDash val="solid"/>
          </a:ln>
        </p:spPr>
      </p:sp>
      <p:sp>
        <p:nvSpPr>
          <p:cNvPr id="14" name="Text 12"/>
          <p:cNvSpPr txBox="1"/>
          <p:nvPr/>
        </p:nvSpPr>
        <p:spPr>
          <a:xfrm>
            <a:off x="7150608" y="2953512"/>
            <a:ext cx="1426464" cy="585216"/>
          </a:xfrm>
          <a:prstGeom prst="rect">
            <a:avLst/>
          </a:prstGeom>
          <a:noFill/>
          <a:ln/>
        </p:spPr>
        <p:txBody>
          <a:bodyPr wrap="square" lIns="0" tIns="0" rIns="0" bIns="0" rtlCol="0" anchor="ctr"/>
          <a:lstStyle/>
          <a:p>
            <a:pPr algn="ctr" indent="0" marL="0">
              <a:buNone/>
            </a:pPr>
            <a:r>
              <a:rPr lang="en-US" sz="1400" b="1" dirty="0">
                <a:solidFill>
                  <a:schemeClr val="bg1"/>
                </a:solidFill>
              </a:rPr>
              <a:t>XGBoost v2.1</a:t>
            </a:r>
            <a:endParaRPr lang="en-US" sz="1400" dirty="0"/>
          </a:p>
          <a:p>
            <a:pPr algn="ctr" indent="0" marL="0">
              <a:buNone/>
            </a:pPr>
            <a:r>
              <a:rPr lang="en-US" sz="1100" dirty="0">
                <a:solidFill>
                  <a:schemeClr val="bg1"/>
                </a:solidFill>
              </a:rPr>
              <a:t>model.pkl</a:t>
            </a:r>
            <a:endParaRPr lang="en-US" sz="1400" dirty="0"/>
          </a:p>
        </p:txBody>
      </p:sp>
      <p:sp>
        <p:nvSpPr>
          <p:cNvPr id="15" name="arrow browser nginx"/>
          <p:cNvSpPr/>
          <p:nvPr/>
        </p:nvSpPr>
        <p:spPr>
          <a:xfrm>
            <a:off x="2194560" y="2377440"/>
            <a:ext cx="457200" cy="0"/>
          </a:xfrm>
          <a:prstGeom prst="line">
            <a:avLst/>
          </a:prstGeom>
          <a:noFill/>
          <a:ln w="19050">
            <a:solidFill>
              <a:schemeClr val="tx2"/>
            </a:solidFill>
            <a:prstDash val="solid"/>
            <a:tailEnd type="triangle"/>
          </a:ln>
        </p:spPr>
      </p:sp>
      <p:sp>
        <p:nvSpPr>
          <p:cNvPr id="16" name="arrow nginx api"/>
          <p:cNvSpPr/>
          <p:nvPr/>
        </p:nvSpPr>
        <p:spPr>
          <a:xfrm>
            <a:off x="4206240" y="2377440"/>
            <a:ext cx="457200" cy="0"/>
          </a:xfrm>
          <a:prstGeom prst="line">
            <a:avLst/>
          </a:prstGeom>
          <a:noFill/>
          <a:ln w="19050">
            <a:solidFill>
              <a:schemeClr val="tx2"/>
            </a:solidFill>
            <a:prstDash val="solid"/>
            <a:tailEnd type="triangle"/>
          </a:ln>
        </p:spPr>
      </p:sp>
      <p:sp>
        <p:nvSpPr>
          <p:cNvPr id="17" name="arrow api postgres"/>
          <p:cNvSpPr/>
          <p:nvPr/>
        </p:nvSpPr>
        <p:spPr>
          <a:xfrm>
            <a:off x="6583680" y="1508760"/>
            <a:ext cx="457200" cy="0"/>
          </a:xfrm>
          <a:prstGeom prst="line">
            <a:avLst/>
          </a:prstGeom>
          <a:noFill/>
          <a:ln w="19050">
            <a:solidFill>
              <a:schemeClr val="tx2"/>
            </a:solidFill>
            <a:prstDash val="solid"/>
            <a:tailEnd type="triangle"/>
          </a:ln>
        </p:spPr>
      </p:sp>
      <p:sp>
        <p:nvSpPr>
          <p:cNvPr id="18" name="arrow api mongo"/>
          <p:cNvSpPr/>
          <p:nvPr/>
        </p:nvSpPr>
        <p:spPr>
          <a:xfrm>
            <a:off x="6583680" y="2377440"/>
            <a:ext cx="457200" cy="0"/>
          </a:xfrm>
          <a:prstGeom prst="line">
            <a:avLst/>
          </a:prstGeom>
          <a:noFill/>
          <a:ln w="19050">
            <a:solidFill>
              <a:schemeClr val="tx2"/>
            </a:solidFill>
            <a:prstDash val="solid"/>
            <a:tailEnd type="triangle"/>
          </a:ln>
        </p:spPr>
      </p:sp>
      <p:sp>
        <p:nvSpPr>
          <p:cNvPr id="19" name="arrow api model"/>
          <p:cNvSpPr/>
          <p:nvPr/>
        </p:nvSpPr>
        <p:spPr>
          <a:xfrm>
            <a:off x="6583680" y="3246120"/>
            <a:ext cx="457200" cy="0"/>
          </a:xfrm>
          <a:prstGeom prst="line">
            <a:avLst/>
          </a:prstGeom>
          <a:noFill/>
          <a:ln w="19050">
            <a:solidFill>
              <a:schemeClr val="tx2"/>
            </a:solidFill>
            <a:prstDash val="solid"/>
            <a:tailEnd type="triangle"/>
          </a:ln>
        </p:spPr>
      </p:sp>
      <p:sp>
        <p:nvSpPr>
          <p:cNvPr id="20" name="Text 18"/>
          <p:cNvSpPr txBox="1"/>
          <p:nvPr/>
        </p:nvSpPr>
        <p:spPr>
          <a:xfrm>
            <a:off x="457200" y="3794760"/>
            <a:ext cx="8229600" cy="320040"/>
          </a:xfrm>
          <a:prstGeom prst="rect">
            <a:avLst/>
          </a:prstGeom>
          <a:noFill/>
          <a:ln/>
        </p:spPr>
        <p:txBody>
          <a:bodyPr wrap="square" lIns="0" tIns="0" rIns="0" bIns="0" rtlCol="0" anchor="ctr"/>
          <a:lstStyle/>
          <a:p>
            <a:pPr indent="0" marL="0">
              <a:buNone/>
            </a:pPr>
            <a:r>
              <a:rPr lang="en-US" sz="1300" dirty="0">
                <a:solidFill>
                  <a:schemeClr val="tx1"/>
                </a:solidFill>
              </a:rPr>
              <a:t>External data: Open-Meteo (forecast, ERA5 climate) · ISRIC SoilGrids (soil) · Groq LLM (optional text)</a:t>
            </a:r>
            <a:endParaRPr lang="en-US" sz="1300" dirty="0"/>
          </a:p>
        </p:txBody>
      </p:sp>
      <p:sp>
        <p:nvSpPr>
          <p:cNvPr id="21" name="Text 19"/>
          <p:cNvSpPr txBox="1"/>
          <p:nvPr/>
        </p:nvSpPr>
        <p:spPr>
          <a:xfrm>
            <a:off x="457200" y="4160520"/>
            <a:ext cx="8229600" cy="320040"/>
          </a:xfrm>
          <a:prstGeom prst="rect">
            <a:avLst/>
          </a:prstGeom>
          <a:noFill/>
          <a:ln/>
        </p:spPr>
        <p:txBody>
          <a:bodyPr wrap="square" lIns="0" tIns="0" rIns="0" bIns="0" rtlCol="0" anchor="ctr"/>
          <a:lstStyle/>
          <a:p>
            <a:pPr indent="0" marL="0">
              <a:buNone/>
            </a:pPr>
            <a:r>
              <a:rPr lang="en-US" sz="1300" i="1" dirty="0">
                <a:solidFill>
                  <a:schemeClr val="accent1"/>
                </a:solidFill>
              </a:rPr>
              <a:t>Every service runs in Docker; one Compose file starts the whole stack.</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Know which data is real</a:t>
            </a:r>
            <a:endParaRPr lang="en-US" sz="2800" dirty="0"/>
          </a:p>
        </p:txBody>
      </p:sp>
      <p:sp>
        <p:nvSpPr>
          <p:cNvPr id="3" name="Real tag"/>
          <p:cNvSpPr/>
          <p:nvPr/>
        </p:nvSpPr>
        <p:spPr>
          <a:xfrm>
            <a:off x="457200" y="1143000"/>
            <a:ext cx="1371600" cy="822960"/>
          </a:xfrm>
          <a:prstGeom prst="roundRect">
            <a:avLst>
              <a:gd name="adj" fmla="val 8889"/>
            </a:avLst>
          </a:prstGeom>
          <a:solidFill>
            <a:schemeClr val="accent1"/>
          </a:solidFill>
          <a:ln w="12700">
            <a:solidFill>
              <a:schemeClr val="accent1"/>
            </a:solidFill>
            <a:prstDash val="solid"/>
          </a:ln>
        </p:spPr>
      </p:sp>
      <p:sp>
        <p:nvSpPr>
          <p:cNvPr id="4" name="Text 2"/>
          <p:cNvSpPr txBox="1"/>
          <p:nvPr/>
        </p:nvSpPr>
        <p:spPr>
          <a:xfrm>
            <a:off x="457200" y="1143000"/>
            <a:ext cx="1371600" cy="822960"/>
          </a:xfrm>
          <a:prstGeom prst="rect">
            <a:avLst/>
          </a:prstGeom>
          <a:noFill/>
          <a:ln/>
        </p:spPr>
        <p:txBody>
          <a:bodyPr wrap="square" lIns="0" tIns="0" rIns="0" bIns="0" rtlCol="0" anchor="ctr"/>
          <a:lstStyle/>
          <a:p>
            <a:pPr algn="ctr" indent="0" marL="0">
              <a:buNone/>
            </a:pPr>
            <a:r>
              <a:rPr lang="en-US" sz="1600" b="1" dirty="0">
                <a:solidFill>
                  <a:schemeClr val="bg1"/>
                </a:solidFill>
              </a:rPr>
              <a:t>Real</a:t>
            </a:r>
            <a:endParaRPr lang="en-US" sz="1600" dirty="0"/>
          </a:p>
        </p:txBody>
      </p:sp>
      <p:sp>
        <p:nvSpPr>
          <p:cNvPr id="5" name="Text 3"/>
          <p:cNvSpPr txBox="1"/>
          <p:nvPr/>
        </p:nvSpPr>
        <p:spPr>
          <a:xfrm>
            <a:off x="2011680" y="1143000"/>
            <a:ext cx="6675120" cy="822960"/>
          </a:xfrm>
          <a:prstGeom prst="rect">
            <a:avLst/>
          </a:prstGeom>
          <a:noFill/>
          <a:ln/>
        </p:spPr>
        <p:txBody>
          <a:bodyPr wrap="square" lIns="0" tIns="0" rIns="0" bIns="0" rtlCol="0" anchor="ctr"/>
          <a:lstStyle/>
          <a:p>
            <a:pPr indent="0" marL="0">
              <a:buNone/>
            </a:pPr>
            <a:r>
              <a:rPr lang="en-US" sz="1400" b="1" dirty="0">
                <a:solidFill>
                  <a:schemeClr val="tx1"/>
                </a:solidFill>
              </a:rPr>
              <a:t>Region · crop · year · yield · rainfall · temperature · pesticides</a:t>
            </a:r>
            <a:endParaRPr lang="en-US" sz="1400" dirty="0"/>
          </a:p>
          <a:p>
            <a:pPr indent="0" marL="0">
              <a:buNone/>
            </a:pPr>
            <a:r>
              <a:rPr lang="en-US" sz="1400" dirty="0">
                <a:solidFill>
                  <a:schemeClr val="tx1"/>
                </a:solidFill>
              </a:rPr>
              <a:t>28,242 FAOSTAT rows, 101 countries, 10 crops, 1990–2013</a:t>
            </a:r>
            <a:endParaRPr lang="en-US" sz="1400" dirty="0"/>
          </a:p>
        </p:txBody>
      </p:sp>
      <p:sp>
        <p:nvSpPr>
          <p:cNvPr id="6" name="Synthetic tag"/>
          <p:cNvSpPr/>
          <p:nvPr/>
        </p:nvSpPr>
        <p:spPr>
          <a:xfrm>
            <a:off x="457200" y="2167128"/>
            <a:ext cx="1371600" cy="822960"/>
          </a:xfrm>
          <a:prstGeom prst="roundRect">
            <a:avLst>
              <a:gd name="adj" fmla="val 8889"/>
            </a:avLst>
          </a:prstGeom>
          <a:solidFill>
            <a:schemeClr val="accent2"/>
          </a:solidFill>
          <a:ln w="12700">
            <a:solidFill>
              <a:schemeClr val="accent2"/>
            </a:solidFill>
            <a:prstDash val="solid"/>
          </a:ln>
        </p:spPr>
      </p:sp>
      <p:sp>
        <p:nvSpPr>
          <p:cNvPr id="7" name="Text 5"/>
          <p:cNvSpPr txBox="1"/>
          <p:nvPr/>
        </p:nvSpPr>
        <p:spPr>
          <a:xfrm>
            <a:off x="457200" y="2167128"/>
            <a:ext cx="1371600" cy="822960"/>
          </a:xfrm>
          <a:prstGeom prst="rect">
            <a:avLst/>
          </a:prstGeom>
          <a:noFill/>
          <a:ln/>
        </p:spPr>
        <p:txBody>
          <a:bodyPr wrap="square" lIns="0" tIns="0" rIns="0" bIns="0" rtlCol="0" anchor="ctr"/>
          <a:lstStyle/>
          <a:p>
            <a:pPr algn="ctr" indent="0" marL="0">
              <a:buNone/>
            </a:pPr>
            <a:r>
              <a:rPr lang="en-US" sz="1600" b="1" dirty="0">
                <a:solidFill>
                  <a:schemeClr val="bg1"/>
                </a:solidFill>
              </a:rPr>
              <a:t>Synthetic</a:t>
            </a:r>
            <a:endParaRPr lang="en-US" sz="1600" dirty="0"/>
          </a:p>
        </p:txBody>
      </p:sp>
      <p:sp>
        <p:nvSpPr>
          <p:cNvPr id="8" name="Text 6"/>
          <p:cNvSpPr txBox="1"/>
          <p:nvPr/>
        </p:nvSpPr>
        <p:spPr>
          <a:xfrm>
            <a:off x="2011680" y="2167128"/>
            <a:ext cx="6675120" cy="822960"/>
          </a:xfrm>
          <a:prstGeom prst="rect">
            <a:avLst/>
          </a:prstGeom>
          <a:noFill/>
          <a:ln/>
        </p:spPr>
        <p:txBody>
          <a:bodyPr wrap="square" lIns="0" tIns="0" rIns="0" bIns="0" rtlCol="0" anchor="ctr"/>
          <a:lstStyle/>
          <a:p>
            <a:pPr indent="0" marL="0">
              <a:buNone/>
            </a:pPr>
            <a:r>
              <a:rPr lang="en-US" sz="1400" b="1" dirty="0">
                <a:solidFill>
                  <a:schemeClr val="tx1"/>
                </a:solidFill>
              </a:rPr>
              <a:t>Soil pH · moisture · humidity · sunlight · irrigation · fertilizer · disease · crop duration</a:t>
            </a:r>
            <a:endParaRPr lang="en-US" sz="1400" dirty="0"/>
          </a:p>
          <a:p>
            <a:pPr indent="0" marL="0">
              <a:buNone/>
            </a:pPr>
            <a:r>
              <a:rPr lang="en-US" sz="1400" dirty="0">
                <a:solidFill>
                  <a:schemeClr val="tx1"/>
                </a:solidFill>
              </a:rPr>
              <a:t>Generated to fill the schema: never used by the model</a:t>
            </a:r>
            <a:endParaRPr lang="en-US" sz="1400" dirty="0"/>
          </a:p>
        </p:txBody>
      </p:sp>
      <p:sp>
        <p:nvSpPr>
          <p:cNvPr id="9" name="Derived tag"/>
          <p:cNvSpPr/>
          <p:nvPr/>
        </p:nvSpPr>
        <p:spPr>
          <a:xfrm>
            <a:off x="457200" y="3191256"/>
            <a:ext cx="1371600" cy="822960"/>
          </a:xfrm>
          <a:prstGeom prst="roundRect">
            <a:avLst>
              <a:gd name="adj" fmla="val 8889"/>
            </a:avLst>
          </a:prstGeom>
          <a:solidFill>
            <a:schemeClr val="accent6"/>
          </a:solidFill>
          <a:ln w="12700">
            <a:solidFill>
              <a:schemeClr val="accent6"/>
            </a:solidFill>
            <a:prstDash val="solid"/>
          </a:ln>
        </p:spPr>
      </p:sp>
      <p:sp>
        <p:nvSpPr>
          <p:cNvPr id="10" name="Text 8"/>
          <p:cNvSpPr txBox="1"/>
          <p:nvPr/>
        </p:nvSpPr>
        <p:spPr>
          <a:xfrm>
            <a:off x="457200" y="3191256"/>
            <a:ext cx="1371600" cy="822960"/>
          </a:xfrm>
          <a:prstGeom prst="rect">
            <a:avLst/>
          </a:prstGeom>
          <a:noFill/>
          <a:ln/>
        </p:spPr>
        <p:txBody>
          <a:bodyPr wrap="square" lIns="0" tIns="0" rIns="0" bIns="0" rtlCol="0" anchor="ctr"/>
          <a:lstStyle/>
          <a:p>
            <a:pPr algn="ctr" indent="0" marL="0">
              <a:buNone/>
            </a:pPr>
            <a:r>
              <a:rPr lang="en-US" sz="1600" b="1" dirty="0">
                <a:solidFill>
                  <a:schemeClr val="bg1"/>
                </a:solidFill>
              </a:rPr>
              <a:t>Derived</a:t>
            </a:r>
            <a:endParaRPr lang="en-US" sz="1600" dirty="0"/>
          </a:p>
        </p:txBody>
      </p:sp>
      <p:sp>
        <p:nvSpPr>
          <p:cNvPr id="11" name="Text 9"/>
          <p:cNvSpPr txBox="1"/>
          <p:nvPr/>
        </p:nvSpPr>
        <p:spPr>
          <a:xfrm>
            <a:off x="2011680" y="3191256"/>
            <a:ext cx="6675120" cy="822960"/>
          </a:xfrm>
          <a:prstGeom prst="rect">
            <a:avLst/>
          </a:prstGeom>
          <a:noFill/>
          <a:ln/>
        </p:spPr>
        <p:txBody>
          <a:bodyPr wrap="square" lIns="0" tIns="0" rIns="0" bIns="0" rtlCol="0" anchor="ctr"/>
          <a:lstStyle/>
          <a:p>
            <a:pPr indent="0" marL="0">
              <a:buNone/>
            </a:pPr>
            <a:r>
              <a:rPr lang="en-US" sz="1400" b="1" dirty="0">
                <a:solidFill>
                  <a:schemeClr val="tx1"/>
                </a:solidFill>
              </a:rPr>
              <a:t>NDVI</a:t>
            </a:r>
            <a:endParaRPr lang="en-US" sz="1400" dirty="0"/>
          </a:p>
          <a:p>
            <a:pPr indent="0" marL="0">
              <a:buNone/>
            </a:pPr>
            <a:r>
              <a:rPr lang="en-US" sz="1400" dirty="0">
                <a:solidFill>
                  <a:schemeClr val="tx1"/>
                </a:solidFill>
              </a:rPr>
              <a:t>Computed from the yield itself: removed (target leakage)</a:t>
            </a:r>
            <a:endParaRPr lang="en-US" sz="1400" dirty="0"/>
          </a:p>
        </p:txBody>
      </p:sp>
      <p:sp>
        <p:nvSpPr>
          <p:cNvPr id="12" name="Text 10"/>
          <p:cNvSpPr txBox="1"/>
          <p:nvPr/>
        </p:nvSpPr>
        <p:spPr>
          <a:xfrm>
            <a:off x="457200" y="4206240"/>
            <a:ext cx="8229600" cy="365760"/>
          </a:xfrm>
          <a:prstGeom prst="rect">
            <a:avLst/>
          </a:prstGeom>
          <a:noFill/>
          <a:ln/>
        </p:spPr>
        <p:txBody>
          <a:bodyPr wrap="square" lIns="0" tIns="0" rIns="0" bIns="0" rtlCol="0" anchor="ctr"/>
          <a:lstStyle/>
          <a:p>
            <a:pPr indent="0" marL="0">
              <a:buNone/>
            </a:pPr>
            <a:r>
              <a:rPr lang="en-US" sz="1300" i="1" dirty="0">
                <a:solidFill>
                  <a:schemeClr val="accent1"/>
                </a:solidFill>
              </a:rPr>
              <a:t>Every column carries an R / S / D badge in the app, and the model card lists what was excluded and why.</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Six model families, tested on unseen years</a:t>
            </a:r>
            <a:endParaRPr lang="en-US" sz="2800" dirty="0"/>
          </a:p>
        </p:txBody>
      </p:sp>
      <p:graphicFrame>
        <p:nvGraphicFramePr>
          <p:cNvPr id="3" name="temporal RMSE chart" descr=""/>
          <p:cNvGraphicFramePr/>
          <p:nvPr/>
        </p:nvGraphicFramePr>
        <p:xfrm>
          <a:off x="457200" y="1097280"/>
          <a:ext cx="5120640" cy="34747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852160" y="1234440"/>
            <a:ext cx="2834640" cy="3200400"/>
          </a:xfrm>
          <a:prstGeom prst="rect">
            <a:avLst/>
          </a:prstGeom>
          <a:noFill/>
          <a:ln/>
        </p:spPr>
        <p:txBody>
          <a:bodyPr wrap="square" lIns="0" tIns="0" rIns="0" bIns="0" rtlCol="0" anchor="t"/>
          <a:lstStyle/>
          <a:p>
            <a:pPr indent="0" marL="0">
              <a:buNone/>
            </a:pPr>
            <a:r>
              <a:rPr lang="en-US" sz="1300" b="1" dirty="0">
                <a:solidFill>
                  <a:schemeClr val="tx1"/>
                </a:solidFill>
              </a:rPr>
              <a:t>Temporal split</a:t>
            </a:r>
            <a:endParaRPr lang="en-US" sz="1300" dirty="0"/>
          </a:p>
          <a:p>
            <a:pPr indent="0" marL="0">
              <a:buNone/>
            </a:pPr>
            <a:r>
              <a:rPr lang="en-US" sz="1300" dirty="0">
                <a:solidFill>
                  <a:schemeClr val="tx1"/>
                </a:solidFill>
              </a:rPr>
              <a:t>Train on 1990–2008, test on 2009–2013: like forecasting a future season.</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tx1"/>
                </a:solidFill>
              </a:rPr>
              <a:t>Selection rule</a:t>
            </a:r>
            <a:endParaRPr lang="en-US" sz="1300" dirty="0"/>
          </a:p>
          <a:p>
            <a:pPr indent="0" marL="0">
              <a:buNone/>
            </a:pPr>
            <a:r>
              <a:rPr lang="en-US" sz="1300" dirty="0">
                <a:solidFill>
                  <a:schemeClr val="tx1"/>
                </a:solidFill>
              </a:rPr>
              <a:t>Lowest error; within 1% counts as a tie and the faster model wins. XGBoost is served; the Keras MLP would add TensorFlow to the API.</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The served model: XGBoost v2.1</a:t>
            </a:r>
            <a:endParaRPr lang="en-US" sz="2800" dirty="0"/>
          </a:p>
        </p:txBody>
      </p:sp>
      <p:sp>
        <p:nvSpPr>
          <p:cNvPr id="3" name="stat card 1"/>
          <p:cNvSpPr/>
          <p:nvPr/>
        </p:nvSpPr>
        <p:spPr>
          <a:xfrm>
            <a:off x="457200" y="1188720"/>
            <a:ext cx="1920240" cy="1600200"/>
          </a:xfrm>
          <a:prstGeom prst="roundRect">
            <a:avLst>
              <a:gd name="adj" fmla="val 4571"/>
            </a:avLst>
          </a:prstGeom>
          <a:solidFill>
            <a:schemeClr val="bg2"/>
          </a:solidFill>
          <a:ln w="12700">
            <a:solidFill>
              <a:schemeClr val="bg2"/>
            </a:solidFill>
            <a:prstDash val="solid"/>
          </a:ln>
        </p:spPr>
      </p:sp>
      <p:sp>
        <p:nvSpPr>
          <p:cNvPr id="4" name="Text 2"/>
          <p:cNvSpPr txBox="1"/>
          <p:nvPr/>
        </p:nvSpPr>
        <p:spPr>
          <a:xfrm>
            <a:off x="594360" y="1325880"/>
            <a:ext cx="1645920" cy="731520"/>
          </a:xfrm>
          <a:prstGeom prst="rect">
            <a:avLst/>
          </a:prstGeom>
          <a:noFill/>
          <a:ln/>
        </p:spPr>
        <p:txBody>
          <a:bodyPr wrap="square" lIns="0" tIns="0" rIns="0" bIns="0" rtlCol="0" anchor="ctr"/>
          <a:lstStyle/>
          <a:p>
            <a:pPr algn="ctr" indent="0" marL="0">
              <a:buNone/>
            </a:pPr>
            <a:r>
              <a:rPr lang="en-US" sz="3400" b="1" dirty="0">
                <a:solidFill>
                  <a:schemeClr val="accent1"/>
                </a:solidFill>
              </a:rPr>
              <a:t>0.953</a:t>
            </a:r>
            <a:endParaRPr lang="en-US" sz="3400" dirty="0"/>
          </a:p>
        </p:txBody>
      </p:sp>
      <p:sp>
        <p:nvSpPr>
          <p:cNvPr id="5" name="Text 3"/>
          <p:cNvSpPr txBox="1"/>
          <p:nvPr/>
        </p:nvSpPr>
        <p:spPr>
          <a:xfrm>
            <a:off x="594360" y="2103120"/>
            <a:ext cx="1645920" cy="594360"/>
          </a:xfrm>
          <a:prstGeom prst="rect">
            <a:avLst/>
          </a:prstGeom>
          <a:noFill/>
          <a:ln/>
        </p:spPr>
        <p:txBody>
          <a:bodyPr wrap="square" lIns="0" tIns="0" rIns="0" bIns="0" rtlCol="0" anchor="t"/>
          <a:lstStyle/>
          <a:p>
            <a:pPr algn="ctr" indent="0" marL="0">
              <a:buNone/>
            </a:pPr>
            <a:r>
              <a:rPr lang="en-US" sz="1200" dirty="0">
                <a:solidFill>
                  <a:schemeClr val="tx1"/>
                </a:solidFill>
              </a:rPr>
              <a:t>R² on unseen years</a:t>
            </a:r>
            <a:endParaRPr lang="en-US" sz="1200" dirty="0"/>
          </a:p>
        </p:txBody>
      </p:sp>
      <p:sp>
        <p:nvSpPr>
          <p:cNvPr id="6" name="stat card 2"/>
          <p:cNvSpPr/>
          <p:nvPr/>
        </p:nvSpPr>
        <p:spPr>
          <a:xfrm>
            <a:off x="2542032" y="1188720"/>
            <a:ext cx="1920240" cy="1600200"/>
          </a:xfrm>
          <a:prstGeom prst="roundRect">
            <a:avLst>
              <a:gd name="adj" fmla="val 4571"/>
            </a:avLst>
          </a:prstGeom>
          <a:solidFill>
            <a:schemeClr val="bg2"/>
          </a:solidFill>
          <a:ln w="12700">
            <a:solidFill>
              <a:schemeClr val="bg2"/>
            </a:solidFill>
            <a:prstDash val="solid"/>
          </a:ln>
        </p:spPr>
      </p:sp>
      <p:sp>
        <p:nvSpPr>
          <p:cNvPr id="7" name="Text 5"/>
          <p:cNvSpPr txBox="1"/>
          <p:nvPr/>
        </p:nvSpPr>
        <p:spPr>
          <a:xfrm>
            <a:off x="2679192" y="1325880"/>
            <a:ext cx="1645920" cy="731520"/>
          </a:xfrm>
          <a:prstGeom prst="rect">
            <a:avLst/>
          </a:prstGeom>
          <a:noFill/>
          <a:ln/>
        </p:spPr>
        <p:txBody>
          <a:bodyPr wrap="square" lIns="0" tIns="0" rIns="0" bIns="0" rtlCol="0" anchor="ctr"/>
          <a:lstStyle/>
          <a:p>
            <a:pPr algn="ctr" indent="0" marL="0">
              <a:buNone/>
            </a:pPr>
            <a:r>
              <a:rPr lang="en-US" sz="3400" b="1" dirty="0">
                <a:solidFill>
                  <a:schemeClr val="accent1"/>
                </a:solidFill>
              </a:rPr>
              <a:t>2,065</a:t>
            </a:r>
            <a:endParaRPr lang="en-US" sz="3400" dirty="0"/>
          </a:p>
        </p:txBody>
      </p:sp>
      <p:sp>
        <p:nvSpPr>
          <p:cNvPr id="8" name="Text 6"/>
          <p:cNvSpPr txBox="1"/>
          <p:nvPr/>
        </p:nvSpPr>
        <p:spPr>
          <a:xfrm>
            <a:off x="2679192" y="2103120"/>
            <a:ext cx="1645920" cy="594360"/>
          </a:xfrm>
          <a:prstGeom prst="rect">
            <a:avLst/>
          </a:prstGeom>
          <a:noFill/>
          <a:ln/>
        </p:spPr>
        <p:txBody>
          <a:bodyPr wrap="square" lIns="0" tIns="0" rIns="0" bIns="0" rtlCol="0" anchor="t"/>
          <a:lstStyle/>
          <a:p>
            <a:pPr algn="ctr" indent="0" marL="0">
              <a:buNone/>
            </a:pPr>
            <a:r>
              <a:rPr lang="en-US" sz="1200" dirty="0">
                <a:solidFill>
                  <a:schemeClr val="tx1"/>
                </a:solidFill>
              </a:rPr>
              <a:t>RMSE, kg/ha</a:t>
            </a:r>
            <a:endParaRPr lang="en-US" sz="1200" dirty="0"/>
          </a:p>
        </p:txBody>
      </p:sp>
      <p:sp>
        <p:nvSpPr>
          <p:cNvPr id="9" name="stat card 3"/>
          <p:cNvSpPr/>
          <p:nvPr/>
        </p:nvSpPr>
        <p:spPr>
          <a:xfrm>
            <a:off x="4626864" y="1188720"/>
            <a:ext cx="1920240" cy="1600200"/>
          </a:xfrm>
          <a:prstGeom prst="roundRect">
            <a:avLst>
              <a:gd name="adj" fmla="val 4571"/>
            </a:avLst>
          </a:prstGeom>
          <a:solidFill>
            <a:schemeClr val="bg2"/>
          </a:solidFill>
          <a:ln w="12700">
            <a:solidFill>
              <a:schemeClr val="bg2"/>
            </a:solidFill>
            <a:prstDash val="solid"/>
          </a:ln>
        </p:spPr>
      </p:sp>
      <p:sp>
        <p:nvSpPr>
          <p:cNvPr id="10" name="Text 8"/>
          <p:cNvSpPr txBox="1"/>
          <p:nvPr/>
        </p:nvSpPr>
        <p:spPr>
          <a:xfrm>
            <a:off x="4764024" y="1325880"/>
            <a:ext cx="1645920" cy="731520"/>
          </a:xfrm>
          <a:prstGeom prst="rect">
            <a:avLst/>
          </a:prstGeom>
          <a:noFill/>
          <a:ln/>
        </p:spPr>
        <p:txBody>
          <a:bodyPr wrap="square" lIns="0" tIns="0" rIns="0" bIns="0" rtlCol="0" anchor="ctr"/>
          <a:lstStyle/>
          <a:p>
            <a:pPr algn="ctr" indent="0" marL="0">
              <a:buNone/>
            </a:pPr>
            <a:r>
              <a:rPr lang="en-US" sz="3400" b="1" dirty="0">
                <a:solidFill>
                  <a:schemeClr val="accent2"/>
                </a:solidFill>
              </a:rPr>
              <a:t>74.5%</a:t>
            </a:r>
            <a:endParaRPr lang="en-US" sz="3400" dirty="0"/>
          </a:p>
        </p:txBody>
      </p:sp>
      <p:sp>
        <p:nvSpPr>
          <p:cNvPr id="11" name="Text 9"/>
          <p:cNvSpPr txBox="1"/>
          <p:nvPr/>
        </p:nvSpPr>
        <p:spPr>
          <a:xfrm>
            <a:off x="4764024" y="2103120"/>
            <a:ext cx="1645920" cy="594360"/>
          </a:xfrm>
          <a:prstGeom prst="rect">
            <a:avLst/>
          </a:prstGeom>
          <a:noFill/>
          <a:ln/>
        </p:spPr>
        <p:txBody>
          <a:bodyPr wrap="square" lIns="0" tIns="0" rIns="0" bIns="0" rtlCol="0" anchor="t"/>
          <a:lstStyle/>
          <a:p>
            <a:pPr algn="ctr" indent="0" marL="0">
              <a:buNone/>
            </a:pPr>
            <a:r>
              <a:rPr lang="en-US" sz="1200" dirty="0">
                <a:solidFill>
                  <a:schemeClr val="tx1"/>
                </a:solidFill>
              </a:rPr>
              <a:t>of yields inside P10–P90 (target 80%)</a:t>
            </a:r>
            <a:endParaRPr lang="en-US" sz="1200" dirty="0"/>
          </a:p>
        </p:txBody>
      </p:sp>
      <p:sp>
        <p:nvSpPr>
          <p:cNvPr id="12" name="stat card 4"/>
          <p:cNvSpPr/>
          <p:nvPr/>
        </p:nvSpPr>
        <p:spPr>
          <a:xfrm>
            <a:off x="6711696" y="1188720"/>
            <a:ext cx="1920240" cy="1600200"/>
          </a:xfrm>
          <a:prstGeom prst="roundRect">
            <a:avLst>
              <a:gd name="adj" fmla="val 4571"/>
            </a:avLst>
          </a:prstGeom>
          <a:solidFill>
            <a:schemeClr val="bg2"/>
          </a:solidFill>
          <a:ln w="12700">
            <a:solidFill>
              <a:schemeClr val="bg2"/>
            </a:solidFill>
            <a:prstDash val="solid"/>
          </a:ln>
        </p:spPr>
      </p:sp>
      <p:sp>
        <p:nvSpPr>
          <p:cNvPr id="13" name="Text 11"/>
          <p:cNvSpPr txBox="1"/>
          <p:nvPr/>
        </p:nvSpPr>
        <p:spPr>
          <a:xfrm>
            <a:off x="6848856" y="1325880"/>
            <a:ext cx="1645920" cy="731520"/>
          </a:xfrm>
          <a:prstGeom prst="rect">
            <a:avLst/>
          </a:prstGeom>
          <a:noFill/>
          <a:ln/>
        </p:spPr>
        <p:txBody>
          <a:bodyPr wrap="square" lIns="0" tIns="0" rIns="0" bIns="0" rtlCol="0" anchor="ctr"/>
          <a:lstStyle/>
          <a:p>
            <a:pPr algn="ctr" indent="0" marL="0">
              <a:buNone/>
            </a:pPr>
            <a:r>
              <a:rPr lang="en-US" sz="3400" b="1" dirty="0">
                <a:solidFill>
                  <a:schemeClr val="accent3"/>
                </a:solidFill>
              </a:rPr>
              <a:t>16 ms</a:t>
            </a:r>
            <a:endParaRPr lang="en-US" sz="3400" dirty="0"/>
          </a:p>
        </p:txBody>
      </p:sp>
      <p:sp>
        <p:nvSpPr>
          <p:cNvPr id="14" name="Text 12"/>
          <p:cNvSpPr txBox="1"/>
          <p:nvPr/>
        </p:nvSpPr>
        <p:spPr>
          <a:xfrm>
            <a:off x="6848856" y="2103120"/>
            <a:ext cx="1645920" cy="594360"/>
          </a:xfrm>
          <a:prstGeom prst="rect">
            <a:avLst/>
          </a:prstGeom>
          <a:noFill/>
          <a:ln/>
        </p:spPr>
        <p:txBody>
          <a:bodyPr wrap="square" lIns="0" tIns="0" rIns="0" bIns="0" rtlCol="0" anchor="t"/>
          <a:lstStyle/>
          <a:p>
            <a:pPr algn="ctr" indent="0" marL="0">
              <a:buNone/>
            </a:pPr>
            <a:r>
              <a:rPr lang="en-US" sz="1200" dirty="0">
                <a:solidFill>
                  <a:schemeClr val="tx1"/>
                </a:solidFill>
              </a:rPr>
              <a:t>p95 single prediction</a:t>
            </a:r>
            <a:endParaRPr lang="en-US" sz="1200" dirty="0"/>
          </a:p>
        </p:txBody>
      </p:sp>
      <p:sp>
        <p:nvSpPr>
          <p:cNvPr id="15" name="Text 13"/>
          <p:cNvSpPr txBox="1"/>
          <p:nvPr/>
        </p:nvSpPr>
        <p:spPr>
          <a:xfrm>
            <a:off x="457200" y="3063240"/>
            <a:ext cx="8229600" cy="141732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Six real inputs: </a:t>
            </a:r>
            <a:pPr indent="0" marL="0">
              <a:spcAft>
                <a:spcPts val="400"/>
              </a:spcAft>
              <a:buNone/>
            </a:pPr>
            <a:r>
              <a:rPr lang="en-US" sz="1400" dirty="0">
                <a:solidFill>
                  <a:schemeClr val="tx1"/>
                </a:solidFill>
              </a:rPr>
              <a:t>crop, region, year, rainfall, temperature, pesticides.</a:t>
            </a:r>
            <a:endParaRPr lang="en-US" sz="1400" dirty="0"/>
          </a:p>
          <a:p>
            <a:pPr indent="0" marL="0">
              <a:spcAft>
                <a:spcPts val="400"/>
              </a:spcAft>
              <a:buNone/>
            </a:pPr>
            <a:r>
              <a:rPr lang="en-US" sz="1400" b="1" dirty="0">
                <a:solidFill>
                  <a:schemeClr val="tx1"/>
                </a:solidFill>
              </a:rPr>
              <a:t>v2.0 → v2.1: </a:t>
            </a:r>
            <a:pPr indent="0" marL="0">
              <a:spcAft>
                <a:spcPts val="400"/>
              </a:spcAft>
              <a:buNone/>
            </a:pPr>
            <a:r>
              <a:rPr lang="en-US" sz="1400" dirty="0">
                <a:solidFill>
                  <a:schemeClr val="tx1"/>
                </a:solidFill>
              </a:rPr>
              <a:t>dropping the synthetic crop-duration column: R² 0.9514 → 0.9528, RMSE 2,096 → 2,065.</a:t>
            </a:r>
            <a:endParaRPr lang="en-US" sz="1400" dirty="0"/>
          </a:p>
          <a:p>
            <a:pPr indent="0" marL="0">
              <a:spcAft>
                <a:spcPts val="400"/>
              </a:spcAft>
              <a:buNone/>
            </a:pPr>
            <a:r>
              <a:rPr lang="en-US" sz="1400" b="1" dirty="0">
                <a:solidFill>
                  <a:schemeClr val="tx1"/>
                </a:solidFill>
              </a:rPr>
              <a:t>Validation gate: </a:t>
            </a:r>
            <a:pPr indent="0" marL="0">
              <a:spcAft>
                <a:spcPts val="400"/>
              </a:spcAft>
              <a:buNone/>
            </a:pPr>
            <a:r>
              <a:rPr lang="en-US" sz="1400" dirty="0">
                <a:solidFill>
                  <a:schemeClr val="tx1"/>
                </a:solidFill>
              </a:rPr>
              <a:t>CI refits the model on 1990–2008 and fails the build if accuracy drops below the thresholds.</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Predict, then act on the risk</a:t>
            </a:r>
            <a:endParaRPr lang="en-US" sz="2800" dirty="0"/>
          </a:p>
        </p:txBody>
      </p:sp>
      <p:pic>
        <p:nvPicPr>
          <p:cNvPr id="3" name="predictor screenshot" descr="Yield Predictor screen">    </p:cNvPr>
          <p:cNvPicPr>
            <a:picLocks noChangeAspect="1"/>
          </p:cNvPicPr>
          <p:nvPr/>
        </p:nvPicPr>
        <p:blipFill>
          <a:blip r:embed="rId1"/>
          <a:stretch>
            <a:fillRect/>
          </a:stretch>
        </p:blipFill>
        <p:spPr>
          <a:xfrm>
            <a:off x="457200" y="1097280"/>
            <a:ext cx="4023360" cy="2514600"/>
          </a:xfrm>
          <a:prstGeom prst="rect">
            <a:avLst/>
          </a:prstGeom>
        </p:spPr>
      </p:pic>
      <p:pic>
        <p:nvPicPr>
          <p:cNvPr id="4" name="risk screenshot" descr="Risk assessment screen">    </p:cNvPr>
          <p:cNvPicPr>
            <a:picLocks noChangeAspect="1"/>
          </p:cNvPicPr>
          <p:nvPr/>
        </p:nvPicPr>
        <p:blipFill>
          <a:blip r:embed="rId2"/>
          <a:stretch>
            <a:fillRect/>
          </a:stretch>
        </p:blipFill>
        <p:spPr>
          <a:xfrm>
            <a:off x="4663440" y="1097280"/>
            <a:ext cx="4023360" cy="2514600"/>
          </a:xfrm>
          <a:prstGeom prst="rect">
            <a:avLst/>
          </a:prstGeom>
        </p:spPr>
      </p:pic>
      <p:sp>
        <p:nvSpPr>
          <p:cNvPr id="5" name="Text 1"/>
          <p:cNvSpPr txBox="1"/>
          <p:nvPr/>
        </p:nvSpPr>
        <p:spPr>
          <a:xfrm>
            <a:off x="457200" y="3749040"/>
            <a:ext cx="4023360" cy="822960"/>
          </a:xfrm>
          <a:prstGeom prst="rect">
            <a:avLst/>
          </a:prstGeom>
          <a:noFill/>
          <a:ln/>
        </p:spPr>
        <p:txBody>
          <a:bodyPr wrap="square" lIns="0" tIns="0" rIns="0" bIns="0" rtlCol="0" anchor="t"/>
          <a:lstStyle/>
          <a:p>
            <a:pPr indent="0" marL="0">
              <a:buNone/>
            </a:pPr>
            <a:r>
              <a:rPr lang="en-US" sz="1300" b="1" dirty="0">
                <a:solidFill>
                  <a:schemeClr val="tx1"/>
                </a:solidFill>
              </a:rPr>
              <a:t>Yield Predictor</a:t>
            </a:r>
            <a:endParaRPr lang="en-US" sz="1300" dirty="0"/>
          </a:p>
          <a:p>
            <a:pPr indent="0" marL="0">
              <a:buNone/>
            </a:pPr>
            <a:r>
              <a:rPr lang="en-US" sz="1300" dirty="0">
                <a:solidFill>
                  <a:schemeClr val="tx1"/>
                </a:solidFill>
              </a:rPr>
              <a:t>Model inputs separate from field conditions; P10–P90 range, harvest in tonnes, what-if scenarios.</a:t>
            </a:r>
            <a:endParaRPr lang="en-US" sz="1300" dirty="0"/>
          </a:p>
        </p:txBody>
      </p:sp>
      <p:sp>
        <p:nvSpPr>
          <p:cNvPr id="6" name="Text 2"/>
          <p:cNvSpPr txBox="1"/>
          <p:nvPr/>
        </p:nvSpPr>
        <p:spPr>
          <a:xfrm>
            <a:off x="4663440" y="3749040"/>
            <a:ext cx="4023360" cy="822960"/>
          </a:xfrm>
          <a:prstGeom prst="rect">
            <a:avLst/>
          </a:prstGeom>
          <a:noFill/>
          <a:ln/>
        </p:spPr>
        <p:txBody>
          <a:bodyPr wrap="square" lIns="0" tIns="0" rIns="0" bIns="0" rtlCol="0" anchor="t"/>
          <a:lstStyle/>
          <a:p>
            <a:pPr indent="0" marL="0">
              <a:buNone/>
            </a:pPr>
            <a:r>
              <a:rPr lang="en-US" sz="1300" b="1" dirty="0">
                <a:solidFill>
                  <a:schemeClr val="tx1"/>
                </a:solidFill>
              </a:rPr>
              <a:t>Risk assessment</a:t>
            </a:r>
            <a:endParaRPr lang="en-US" sz="1300" dirty="0"/>
          </a:p>
          <a:p>
            <a:pPr indent="0" marL="0">
              <a:buNone/>
            </a:pPr>
            <a:r>
              <a:rPr lang="en-US" sz="1300" dirty="0">
                <a:solidFill>
                  <a:schemeClr val="tx1"/>
                </a:solidFill>
              </a:rPr>
              <a:t>Likelihood × impact matrix, yearly timeline, yield anomalies and mitigation advice.</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Real soil data for every farm</a:t>
            </a:r>
            <a:endParaRPr lang="en-US" sz="2800" dirty="0"/>
          </a:p>
        </p:txBody>
      </p:sp>
      <p:pic>
        <p:nvPicPr>
          <p:cNvPr id="3" name="farm soil screenshot" descr="Soil page showing SoilGrids data for a farm">    </p:cNvPr>
          <p:cNvPicPr>
            <a:picLocks noChangeAspect="1"/>
          </p:cNvPicPr>
          <p:nvPr/>
        </p:nvPicPr>
        <p:blipFill>
          <a:blip r:embed="rId1"/>
          <a:stretch>
            <a:fillRect/>
          </a:stretch>
        </p:blipFill>
        <p:spPr>
          <a:xfrm>
            <a:off x="457200" y="1097280"/>
            <a:ext cx="4937760" cy="3086100"/>
          </a:xfrm>
          <a:prstGeom prst="rect">
            <a:avLst/>
          </a:prstGeom>
        </p:spPr>
      </p:pic>
      <p:sp>
        <p:nvSpPr>
          <p:cNvPr id="4" name="soil icon 1 circle"/>
          <p:cNvSpPr/>
          <p:nvPr/>
        </p:nvSpPr>
        <p:spPr>
          <a:xfrm>
            <a:off x="5669280" y="1143000"/>
            <a:ext cx="457200" cy="457200"/>
          </a:xfrm>
          <a:prstGeom prst="ellipse">
            <a:avLst/>
          </a:prstGeom>
          <a:solidFill>
            <a:schemeClr val="accent4"/>
          </a:solidFill>
          <a:ln w="12700">
            <a:solidFill>
              <a:schemeClr val="accent4"/>
            </a:solidFill>
            <a:prstDash val="solid"/>
          </a:ln>
        </p:spPr>
      </p:sp>
      <p:pic>
        <p:nvPicPr>
          <p:cNvPr id="5" name="soil icon 1" descr="preencoded.png">    </p:cNvPr>
          <p:cNvPicPr>
            <a:picLocks noChangeAspect="1"/>
          </p:cNvPicPr>
          <p:nvPr/>
        </p:nvPicPr>
        <p:blipFill>
          <a:blip r:embed="rId2"/>
          <a:stretch>
            <a:fillRect/>
          </a:stretch>
        </p:blipFill>
        <p:spPr>
          <a:xfrm>
            <a:off x="5769864" y="1243584"/>
            <a:ext cx="256032" cy="256032"/>
          </a:xfrm>
          <a:prstGeom prst="rect">
            <a:avLst/>
          </a:prstGeom>
        </p:spPr>
      </p:pic>
      <p:sp>
        <p:nvSpPr>
          <p:cNvPr id="6" name="Text 2"/>
          <p:cNvSpPr txBox="1"/>
          <p:nvPr/>
        </p:nvSpPr>
        <p:spPr>
          <a:xfrm>
            <a:off x="6263640" y="1097280"/>
            <a:ext cx="2423160" cy="914400"/>
          </a:xfrm>
          <a:prstGeom prst="rect">
            <a:avLst/>
          </a:prstGeom>
          <a:noFill/>
          <a:ln/>
        </p:spPr>
        <p:txBody>
          <a:bodyPr wrap="square" lIns="0" tIns="0" rIns="0" bIns="0" rtlCol="0" anchor="t"/>
          <a:lstStyle/>
          <a:p>
            <a:pPr indent="0" marL="0">
              <a:buNone/>
            </a:pPr>
            <a:r>
              <a:rPr lang="en-US" sz="1300" b="1" dirty="0">
                <a:solidFill>
                  <a:schemeClr val="tx1"/>
                </a:solidFill>
              </a:rPr>
              <a:t>ISRIC SoilGrids</a:t>
            </a:r>
            <a:endParaRPr lang="en-US" sz="1300" dirty="0"/>
          </a:p>
          <a:p>
            <a:pPr indent="0" marL="0">
              <a:buNone/>
            </a:pPr>
            <a:r>
              <a:rPr lang="en-US" sz="1300" dirty="0">
                <a:solidFill>
                  <a:schemeClr val="tx1"/>
                </a:solidFill>
              </a:rPr>
              <a:t>pH, organic carbon, nitrogen, texture, CEC at 0–30 cm</a:t>
            </a:r>
            <a:endParaRPr lang="en-US" sz="1300" dirty="0"/>
          </a:p>
        </p:txBody>
      </p:sp>
      <p:sp>
        <p:nvSpPr>
          <p:cNvPr id="7" name="soil icon 2 circle"/>
          <p:cNvSpPr/>
          <p:nvPr/>
        </p:nvSpPr>
        <p:spPr>
          <a:xfrm>
            <a:off x="5669280" y="2167128"/>
            <a:ext cx="457200" cy="457200"/>
          </a:xfrm>
          <a:prstGeom prst="ellipse">
            <a:avLst/>
          </a:prstGeom>
          <a:solidFill>
            <a:schemeClr val="accent1"/>
          </a:solidFill>
          <a:ln w="12700">
            <a:solidFill>
              <a:schemeClr val="accent1"/>
            </a:solidFill>
            <a:prstDash val="solid"/>
          </a:ln>
        </p:spPr>
      </p:sp>
      <p:pic>
        <p:nvPicPr>
          <p:cNvPr id="8" name="soil icon 2" descr="preencoded.png">    </p:cNvPr>
          <p:cNvPicPr>
            <a:picLocks noChangeAspect="1"/>
          </p:cNvPicPr>
          <p:nvPr/>
        </p:nvPicPr>
        <p:blipFill>
          <a:blip r:embed="rId3"/>
          <a:stretch>
            <a:fillRect/>
          </a:stretch>
        </p:blipFill>
        <p:spPr>
          <a:xfrm>
            <a:off x="5769864" y="2267712"/>
            <a:ext cx="256032" cy="256032"/>
          </a:xfrm>
          <a:prstGeom prst="rect">
            <a:avLst/>
          </a:prstGeom>
        </p:spPr>
      </p:pic>
      <p:sp>
        <p:nvSpPr>
          <p:cNvPr id="9" name="Text 4"/>
          <p:cNvSpPr txBox="1"/>
          <p:nvPr/>
        </p:nvSpPr>
        <p:spPr>
          <a:xfrm>
            <a:off x="6263640" y="2121408"/>
            <a:ext cx="2423160" cy="914400"/>
          </a:xfrm>
          <a:prstGeom prst="rect">
            <a:avLst/>
          </a:prstGeom>
          <a:noFill/>
          <a:ln/>
        </p:spPr>
        <p:txBody>
          <a:bodyPr wrap="square" lIns="0" tIns="0" rIns="0" bIns="0" rtlCol="0" anchor="t"/>
          <a:lstStyle/>
          <a:p>
            <a:pPr indent="0" marL="0">
              <a:buNone/>
            </a:pPr>
            <a:r>
              <a:rPr lang="en-US" sz="1300" b="1" dirty="0">
                <a:solidFill>
                  <a:schemeClr val="tx1"/>
                </a:solidFill>
              </a:rPr>
              <a:t>Nutrient ratings</a:t>
            </a:r>
            <a:endParaRPr lang="en-US" sz="1300" dirty="0"/>
          </a:p>
          <a:p>
            <a:pPr indent="0" marL="0">
              <a:buNone/>
            </a:pPr>
            <a:r>
              <a:rPr lang="en-US" sz="1300" dirty="0">
                <a:solidFill>
                  <a:schemeClr val="tx1"/>
                </a:solidFill>
              </a:rPr>
              <a:t>Soil tests rated against Soil Health Card limits, with fertilizer advice</a:t>
            </a:r>
            <a:endParaRPr lang="en-US" sz="1300" dirty="0"/>
          </a:p>
        </p:txBody>
      </p:sp>
      <p:sp>
        <p:nvSpPr>
          <p:cNvPr id="10" name="soil icon 3 circle"/>
          <p:cNvSpPr/>
          <p:nvPr/>
        </p:nvSpPr>
        <p:spPr>
          <a:xfrm>
            <a:off x="5669280" y="3191256"/>
            <a:ext cx="457200" cy="457200"/>
          </a:xfrm>
          <a:prstGeom prst="ellipse">
            <a:avLst/>
          </a:prstGeom>
          <a:solidFill>
            <a:schemeClr val="accent6"/>
          </a:solidFill>
          <a:ln w="12700">
            <a:solidFill>
              <a:schemeClr val="accent6"/>
            </a:solidFill>
            <a:prstDash val="solid"/>
          </a:ln>
        </p:spPr>
      </p:sp>
      <p:pic>
        <p:nvPicPr>
          <p:cNvPr id="11" name="soil icon 3" descr="preencoded.png">    </p:cNvPr>
          <p:cNvPicPr>
            <a:picLocks noChangeAspect="1"/>
          </p:cNvPicPr>
          <p:nvPr/>
        </p:nvPicPr>
        <p:blipFill>
          <a:blip r:embed="rId4"/>
          <a:stretch>
            <a:fillRect/>
          </a:stretch>
        </p:blipFill>
        <p:spPr>
          <a:xfrm>
            <a:off x="5769864" y="3291840"/>
            <a:ext cx="256032" cy="256032"/>
          </a:xfrm>
          <a:prstGeom prst="rect">
            <a:avLst/>
          </a:prstGeom>
        </p:spPr>
      </p:pic>
      <p:sp>
        <p:nvSpPr>
          <p:cNvPr id="12" name="Text 6"/>
          <p:cNvSpPr txBox="1"/>
          <p:nvPr/>
        </p:nvSpPr>
        <p:spPr>
          <a:xfrm>
            <a:off x="6263640" y="3145536"/>
            <a:ext cx="2423160" cy="914400"/>
          </a:xfrm>
          <a:prstGeom prst="rect">
            <a:avLst/>
          </a:prstGeom>
          <a:noFill/>
          <a:ln/>
        </p:spPr>
        <p:txBody>
          <a:bodyPr wrap="square" lIns="0" tIns="0" rIns="0" bIns="0" rtlCol="0" anchor="t"/>
          <a:lstStyle/>
          <a:p>
            <a:pPr indent="0" marL="0">
              <a:buNone/>
            </a:pPr>
            <a:r>
              <a:rPr lang="en-US" sz="1300" b="1" dirty="0">
                <a:solidFill>
                  <a:schemeClr val="tx1"/>
                </a:solidFill>
              </a:rPr>
              <a:t>No silent fallback</a:t>
            </a:r>
            <a:endParaRPr lang="en-US" sz="1300" dirty="0"/>
          </a:p>
          <a:p>
            <a:pPr indent="0" marL="0">
              <a:buNone/>
            </a:pPr>
            <a:r>
              <a:rPr lang="en-US" sz="1300" dirty="0">
                <a:solidFill>
                  <a:schemeClr val="tx1"/>
                </a:solidFill>
              </a:rPr>
              <a:t>If the service is down, the page says so instead of showing fake values</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From numbers to decisions</a:t>
            </a:r>
            <a:endParaRPr lang="en-US" sz="2800" dirty="0"/>
          </a:p>
        </p:txBody>
      </p:sp>
      <p:sp>
        <p:nvSpPr>
          <p:cNvPr id="3" name="decision card 1"/>
          <p:cNvSpPr/>
          <p:nvPr/>
        </p:nvSpPr>
        <p:spPr>
          <a:xfrm>
            <a:off x="457200" y="1188720"/>
            <a:ext cx="4023360" cy="1508760"/>
          </a:xfrm>
          <a:prstGeom prst="roundRect">
            <a:avLst>
              <a:gd name="adj" fmla="val 4848"/>
            </a:avLst>
          </a:prstGeom>
          <a:solidFill>
            <a:schemeClr val="bg2"/>
          </a:solidFill>
          <a:ln w="12700">
            <a:solidFill>
              <a:schemeClr val="bg2"/>
            </a:solidFill>
            <a:prstDash val="solid"/>
          </a:ln>
        </p:spPr>
      </p:sp>
      <p:sp>
        <p:nvSpPr>
          <p:cNvPr id="4" name="decision icon 1 circle"/>
          <p:cNvSpPr/>
          <p:nvPr/>
        </p:nvSpPr>
        <p:spPr>
          <a:xfrm>
            <a:off x="685800" y="1417320"/>
            <a:ext cx="502920" cy="502920"/>
          </a:xfrm>
          <a:prstGeom prst="ellipse">
            <a:avLst/>
          </a:prstGeom>
          <a:solidFill>
            <a:schemeClr val="accent2"/>
          </a:solidFill>
          <a:ln w="12700">
            <a:solidFill>
              <a:schemeClr val="accent2"/>
            </a:solidFill>
            <a:prstDash val="solid"/>
          </a:ln>
        </p:spPr>
      </p:sp>
      <p:pic>
        <p:nvPicPr>
          <p:cNvPr id="5" name="decision icon 1" descr="preencoded.png">    </p:cNvPr>
          <p:cNvPicPr>
            <a:picLocks noChangeAspect="1"/>
          </p:cNvPicPr>
          <p:nvPr/>
        </p:nvPicPr>
        <p:blipFill>
          <a:blip r:embed="rId1"/>
          <a:stretch>
            <a:fillRect/>
          </a:stretch>
        </p:blipFill>
        <p:spPr>
          <a:xfrm>
            <a:off x="796442" y="1527962"/>
            <a:ext cx="281635" cy="281635"/>
          </a:xfrm>
          <a:prstGeom prst="rect">
            <a:avLst/>
          </a:prstGeom>
        </p:spPr>
      </p:pic>
      <p:sp>
        <p:nvSpPr>
          <p:cNvPr id="6" name="Text 3"/>
          <p:cNvSpPr txBox="1"/>
          <p:nvPr/>
        </p:nvSpPr>
        <p:spPr>
          <a:xfrm>
            <a:off x="1371600" y="1353312"/>
            <a:ext cx="2926080" cy="1234440"/>
          </a:xfrm>
          <a:prstGeom prst="rect">
            <a:avLst/>
          </a:prstGeom>
          <a:noFill/>
          <a:ln/>
        </p:spPr>
        <p:txBody>
          <a:bodyPr wrap="square" lIns="0" tIns="0" rIns="0" bIns="0" rtlCol="0" anchor="t"/>
          <a:lstStyle/>
          <a:p>
            <a:pPr indent="0" marL="0">
              <a:buNone/>
            </a:pPr>
            <a:r>
              <a:rPr lang="en-US" sz="1600" b="1" dirty="0">
                <a:solidFill>
                  <a:schemeClr val="tx1"/>
                </a:solidFill>
              </a:rPr>
              <a:t>Recommendations</a:t>
            </a:r>
            <a:endParaRPr lang="en-US" sz="1600" dirty="0"/>
          </a:p>
          <a:p>
            <a:pPr indent="0" marL="0">
              <a:buNone/>
            </a:pPr>
            <a:r>
              <a:rPr lang="en-US" sz="1300" dirty="0">
                <a:solidFill>
                  <a:schemeClr val="tx1"/>
                </a:solidFill>
              </a:rPr>
              <a:t>Rules compare a context with top-yielding records; each shows evidence, model-estimated impact and a deadline. Tasks are saved per user.</a:t>
            </a:r>
            <a:endParaRPr lang="en-US" sz="1600" dirty="0"/>
          </a:p>
        </p:txBody>
      </p:sp>
      <p:sp>
        <p:nvSpPr>
          <p:cNvPr id="7" name="decision card 2"/>
          <p:cNvSpPr/>
          <p:nvPr/>
        </p:nvSpPr>
        <p:spPr>
          <a:xfrm>
            <a:off x="4663440" y="1188720"/>
            <a:ext cx="4023360" cy="1508760"/>
          </a:xfrm>
          <a:prstGeom prst="roundRect">
            <a:avLst>
              <a:gd name="adj" fmla="val 4848"/>
            </a:avLst>
          </a:prstGeom>
          <a:solidFill>
            <a:schemeClr val="bg2"/>
          </a:solidFill>
          <a:ln w="12700">
            <a:solidFill>
              <a:schemeClr val="bg2"/>
            </a:solidFill>
            <a:prstDash val="solid"/>
          </a:ln>
        </p:spPr>
      </p:sp>
      <p:sp>
        <p:nvSpPr>
          <p:cNvPr id="8" name="decision icon 2 circle"/>
          <p:cNvSpPr/>
          <p:nvPr/>
        </p:nvSpPr>
        <p:spPr>
          <a:xfrm>
            <a:off x="4892040" y="1417320"/>
            <a:ext cx="502920" cy="502920"/>
          </a:xfrm>
          <a:prstGeom prst="ellipse">
            <a:avLst/>
          </a:prstGeom>
          <a:solidFill>
            <a:schemeClr val="accent1"/>
          </a:solidFill>
          <a:ln w="12700">
            <a:solidFill>
              <a:schemeClr val="accent1"/>
            </a:solidFill>
            <a:prstDash val="solid"/>
          </a:ln>
        </p:spPr>
      </p:sp>
      <p:pic>
        <p:nvPicPr>
          <p:cNvPr id="9" name="decision icon 2" descr="preencoded.png">    </p:cNvPr>
          <p:cNvPicPr>
            <a:picLocks noChangeAspect="1"/>
          </p:cNvPicPr>
          <p:nvPr/>
        </p:nvPicPr>
        <p:blipFill>
          <a:blip r:embed="rId2"/>
          <a:stretch>
            <a:fillRect/>
          </a:stretch>
        </p:blipFill>
        <p:spPr>
          <a:xfrm>
            <a:off x="5002682" y="1527962"/>
            <a:ext cx="281635" cy="281635"/>
          </a:xfrm>
          <a:prstGeom prst="rect">
            <a:avLst/>
          </a:prstGeom>
        </p:spPr>
      </p:pic>
      <p:sp>
        <p:nvSpPr>
          <p:cNvPr id="10" name="Text 6"/>
          <p:cNvSpPr txBox="1"/>
          <p:nvPr/>
        </p:nvSpPr>
        <p:spPr>
          <a:xfrm>
            <a:off x="5577840" y="1353312"/>
            <a:ext cx="2926080" cy="1234440"/>
          </a:xfrm>
          <a:prstGeom prst="rect">
            <a:avLst/>
          </a:prstGeom>
          <a:noFill/>
          <a:ln/>
        </p:spPr>
        <p:txBody>
          <a:bodyPr wrap="square" lIns="0" tIns="0" rIns="0" bIns="0" rtlCol="0" anchor="t"/>
          <a:lstStyle/>
          <a:p>
            <a:pPr indent="0" marL="0">
              <a:buNone/>
            </a:pPr>
            <a:r>
              <a:rPr lang="en-US" sz="1600" b="1" dirty="0">
                <a:solidFill>
                  <a:schemeClr val="tx1"/>
                </a:solidFill>
              </a:rPr>
              <a:t>Analytics &amp; reports</a:t>
            </a:r>
            <a:endParaRPr lang="en-US" sz="1600" dirty="0"/>
          </a:p>
          <a:p>
            <a:pPr indent="0" marL="0">
              <a:buNone/>
            </a:pPr>
            <a:r>
              <a:rPr lang="en-US" sz="1300" dirty="0">
                <a:solidFill>
                  <a:schemeClr val="tx1"/>
                </a:solidFill>
              </a:rPr>
              <a:t>Yearly trend with next-year forecast, farms vs regional reference, CSV/Excel export and printable reports.</a:t>
            </a:r>
            <a:endParaRPr lang="en-US" sz="1600" dirty="0"/>
          </a:p>
        </p:txBody>
      </p:sp>
      <p:sp>
        <p:nvSpPr>
          <p:cNvPr id="11" name="decision card 3"/>
          <p:cNvSpPr/>
          <p:nvPr/>
        </p:nvSpPr>
        <p:spPr>
          <a:xfrm>
            <a:off x="457200" y="2880360"/>
            <a:ext cx="4023360" cy="1508760"/>
          </a:xfrm>
          <a:prstGeom prst="roundRect">
            <a:avLst>
              <a:gd name="adj" fmla="val 4848"/>
            </a:avLst>
          </a:prstGeom>
          <a:solidFill>
            <a:schemeClr val="bg2"/>
          </a:solidFill>
          <a:ln w="12700">
            <a:solidFill>
              <a:schemeClr val="bg2"/>
            </a:solidFill>
            <a:prstDash val="solid"/>
          </a:ln>
        </p:spPr>
      </p:sp>
      <p:sp>
        <p:nvSpPr>
          <p:cNvPr id="12" name="decision icon 3 circle"/>
          <p:cNvSpPr/>
          <p:nvPr/>
        </p:nvSpPr>
        <p:spPr>
          <a:xfrm>
            <a:off x="685800" y="3108960"/>
            <a:ext cx="502920" cy="502920"/>
          </a:xfrm>
          <a:prstGeom prst="ellipse">
            <a:avLst/>
          </a:prstGeom>
          <a:solidFill>
            <a:schemeClr val="accent3"/>
          </a:solidFill>
          <a:ln w="12700">
            <a:solidFill>
              <a:schemeClr val="accent3"/>
            </a:solidFill>
            <a:prstDash val="solid"/>
          </a:ln>
        </p:spPr>
      </p:sp>
      <p:pic>
        <p:nvPicPr>
          <p:cNvPr id="13" name="decision icon 3" descr="preencoded.png">    </p:cNvPr>
          <p:cNvPicPr>
            <a:picLocks noChangeAspect="1"/>
          </p:cNvPicPr>
          <p:nvPr/>
        </p:nvPicPr>
        <p:blipFill>
          <a:blip r:embed="rId3"/>
          <a:stretch>
            <a:fillRect/>
          </a:stretch>
        </p:blipFill>
        <p:spPr>
          <a:xfrm>
            <a:off x="796442" y="3219602"/>
            <a:ext cx="281635" cy="281635"/>
          </a:xfrm>
          <a:prstGeom prst="rect">
            <a:avLst/>
          </a:prstGeom>
        </p:spPr>
      </p:pic>
      <p:sp>
        <p:nvSpPr>
          <p:cNvPr id="14" name="Text 9"/>
          <p:cNvSpPr txBox="1"/>
          <p:nvPr/>
        </p:nvSpPr>
        <p:spPr>
          <a:xfrm>
            <a:off x="1371600" y="3044952"/>
            <a:ext cx="2926080" cy="1234440"/>
          </a:xfrm>
          <a:prstGeom prst="rect">
            <a:avLst/>
          </a:prstGeom>
          <a:noFill/>
          <a:ln/>
        </p:spPr>
        <p:txBody>
          <a:bodyPr wrap="square" lIns="0" tIns="0" rIns="0" bIns="0" rtlCol="0" anchor="t"/>
          <a:lstStyle/>
          <a:p>
            <a:pPr indent="0" marL="0">
              <a:buNone/>
            </a:pPr>
            <a:r>
              <a:rPr lang="en-US" sz="1600" b="1" dirty="0">
                <a:solidFill>
                  <a:schemeClr val="tx1"/>
                </a:solidFill>
              </a:rPr>
              <a:t>Roles</a:t>
            </a:r>
            <a:endParaRPr lang="en-US" sz="1600" dirty="0"/>
          </a:p>
          <a:p>
            <a:pPr indent="0" marL="0">
              <a:buNone/>
            </a:pPr>
            <a:r>
              <a:rPr lang="en-US" sz="1300" dirty="0">
                <a:solidFill>
                  <a:schemeClr val="tx1"/>
                </a:solidFill>
              </a:rPr>
              <a:t>Farmer, Agronomist and Admin see different screens; every API route is protected and tested for all three roles.</a:t>
            </a:r>
            <a:endParaRPr lang="en-US" sz="1600" dirty="0"/>
          </a:p>
        </p:txBody>
      </p:sp>
      <p:sp>
        <p:nvSpPr>
          <p:cNvPr id="15" name="decision card 4"/>
          <p:cNvSpPr/>
          <p:nvPr/>
        </p:nvSpPr>
        <p:spPr>
          <a:xfrm>
            <a:off x="4663440" y="2880360"/>
            <a:ext cx="4023360" cy="1508760"/>
          </a:xfrm>
          <a:prstGeom prst="roundRect">
            <a:avLst>
              <a:gd name="adj" fmla="val 4848"/>
            </a:avLst>
          </a:prstGeom>
          <a:solidFill>
            <a:schemeClr val="bg2"/>
          </a:solidFill>
          <a:ln w="12700">
            <a:solidFill>
              <a:schemeClr val="bg2"/>
            </a:solidFill>
            <a:prstDash val="solid"/>
          </a:ln>
        </p:spPr>
      </p:sp>
      <p:sp>
        <p:nvSpPr>
          <p:cNvPr id="16" name="decision icon 4 circle"/>
          <p:cNvSpPr/>
          <p:nvPr/>
        </p:nvSpPr>
        <p:spPr>
          <a:xfrm>
            <a:off x="4892040" y="3108960"/>
            <a:ext cx="502920" cy="502920"/>
          </a:xfrm>
          <a:prstGeom prst="ellipse">
            <a:avLst/>
          </a:prstGeom>
          <a:solidFill>
            <a:schemeClr val="tx2"/>
          </a:solidFill>
          <a:ln w="12700">
            <a:solidFill>
              <a:schemeClr val="tx2"/>
            </a:solidFill>
            <a:prstDash val="solid"/>
          </a:ln>
        </p:spPr>
      </p:sp>
      <p:pic>
        <p:nvPicPr>
          <p:cNvPr id="17" name="decision icon 4" descr="preencoded.png">    </p:cNvPr>
          <p:cNvPicPr>
            <a:picLocks noChangeAspect="1"/>
          </p:cNvPicPr>
          <p:nvPr/>
        </p:nvPicPr>
        <p:blipFill>
          <a:blip r:embed="rId4"/>
          <a:stretch>
            <a:fillRect/>
          </a:stretch>
        </p:blipFill>
        <p:spPr>
          <a:xfrm>
            <a:off x="5002682" y="3219602"/>
            <a:ext cx="281635" cy="281635"/>
          </a:xfrm>
          <a:prstGeom prst="rect">
            <a:avLst/>
          </a:prstGeom>
        </p:spPr>
      </p:pic>
      <p:sp>
        <p:nvSpPr>
          <p:cNvPr id="18" name="Text 12"/>
          <p:cNvSpPr txBox="1"/>
          <p:nvPr/>
        </p:nvSpPr>
        <p:spPr>
          <a:xfrm>
            <a:off x="5577840" y="3044952"/>
            <a:ext cx="2926080" cy="1234440"/>
          </a:xfrm>
          <a:prstGeom prst="rect">
            <a:avLst/>
          </a:prstGeom>
          <a:noFill/>
          <a:ln/>
        </p:spPr>
        <p:txBody>
          <a:bodyPr wrap="square" lIns="0" tIns="0" rIns="0" bIns="0" rtlCol="0" anchor="t"/>
          <a:lstStyle/>
          <a:p>
            <a:pPr indent="0" marL="0">
              <a:buNone/>
            </a:pPr>
            <a:r>
              <a:rPr lang="en-US" sz="1600" b="1" dirty="0">
                <a:solidFill>
                  <a:schemeClr val="tx1"/>
                </a:solidFill>
              </a:rPr>
              <a:t>Plain-language AI</a:t>
            </a:r>
            <a:endParaRPr lang="en-US" sz="1600" dirty="0"/>
          </a:p>
          <a:p>
            <a:pPr indent="0" marL="0">
              <a:buNone/>
            </a:pPr>
            <a:r>
              <a:rPr lang="en-US" sz="1300" dirty="0">
                <a:solidFill>
                  <a:schemeClr val="tx1"/>
                </a:solidFill>
              </a:rPr>
              <a:t>Groq writes short explanations from the evidence only; a labelled rule-based fallback is used otherwise.</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Tested at every level</a:t>
            </a:r>
            <a:endParaRPr lang="en-US" sz="2800" dirty="0"/>
          </a:p>
        </p:txBody>
      </p:sp>
      <p:sp>
        <p:nvSpPr>
          <p:cNvPr id="3" name="quality card 1"/>
          <p:cNvSpPr/>
          <p:nvPr/>
        </p:nvSpPr>
        <p:spPr>
          <a:xfrm>
            <a:off x="457200" y="1188720"/>
            <a:ext cx="1920240" cy="2011680"/>
          </a:xfrm>
          <a:prstGeom prst="roundRect">
            <a:avLst>
              <a:gd name="adj" fmla="val 3810"/>
            </a:avLst>
          </a:prstGeom>
          <a:solidFill>
            <a:schemeClr val="bg2"/>
          </a:solidFill>
          <a:ln w="12700">
            <a:solidFill>
              <a:schemeClr val="bg2"/>
            </a:solidFill>
            <a:prstDash val="solid"/>
          </a:ln>
        </p:spPr>
      </p:sp>
      <p:sp>
        <p:nvSpPr>
          <p:cNvPr id="4" name="Text 2"/>
          <p:cNvSpPr txBox="1"/>
          <p:nvPr/>
        </p:nvSpPr>
        <p:spPr>
          <a:xfrm>
            <a:off x="594360" y="1371600"/>
            <a:ext cx="1645920" cy="822960"/>
          </a:xfrm>
          <a:prstGeom prst="rect">
            <a:avLst/>
          </a:prstGeom>
          <a:noFill/>
          <a:ln/>
        </p:spPr>
        <p:txBody>
          <a:bodyPr wrap="square" lIns="0" tIns="0" rIns="0" bIns="0" rtlCol="0" anchor="ctr"/>
          <a:lstStyle/>
          <a:p>
            <a:pPr algn="ctr" indent="0" marL="0">
              <a:buNone/>
            </a:pPr>
            <a:r>
              <a:rPr lang="en-US" sz="4000" b="1" dirty="0">
                <a:solidFill>
                  <a:schemeClr val="accent1"/>
                </a:solidFill>
              </a:rPr>
              <a:t>130</a:t>
            </a:r>
            <a:endParaRPr lang="en-US" sz="4000" dirty="0"/>
          </a:p>
        </p:txBody>
      </p:sp>
      <p:sp>
        <p:nvSpPr>
          <p:cNvPr id="5" name="Text 3"/>
          <p:cNvSpPr txBox="1"/>
          <p:nvPr/>
        </p:nvSpPr>
        <p:spPr>
          <a:xfrm>
            <a:off x="594360" y="2286000"/>
            <a:ext cx="1645920" cy="822960"/>
          </a:xfrm>
          <a:prstGeom prst="rect">
            <a:avLst/>
          </a:prstGeom>
          <a:noFill/>
          <a:ln/>
        </p:spPr>
        <p:txBody>
          <a:bodyPr wrap="square" lIns="0" tIns="0" rIns="0" bIns="0" rtlCol="0" anchor="t"/>
          <a:lstStyle/>
          <a:p>
            <a:pPr algn="ctr" indent="0" marL="0">
              <a:buNone/>
            </a:pPr>
            <a:r>
              <a:rPr lang="en-US" sz="1300" b="1" dirty="0">
                <a:solidFill>
                  <a:schemeClr val="tx1"/>
                </a:solidFill>
              </a:rPr>
              <a:t>backend tests</a:t>
            </a:r>
            <a:endParaRPr lang="en-US" sz="1300" dirty="0"/>
          </a:p>
          <a:p>
            <a:pPr algn="ctr" indent="0" marL="0">
              <a:buNone/>
            </a:pPr>
            <a:r>
              <a:rPr lang="en-US" sz="1300" dirty="0">
                <a:solidFill>
                  <a:schemeClr val="tx1"/>
                </a:solidFill>
              </a:rPr>
              <a:t>every route and role</a:t>
            </a:r>
            <a:endParaRPr lang="en-US" sz="1300" dirty="0"/>
          </a:p>
        </p:txBody>
      </p:sp>
      <p:sp>
        <p:nvSpPr>
          <p:cNvPr id="6" name="quality card 2"/>
          <p:cNvSpPr/>
          <p:nvPr/>
        </p:nvSpPr>
        <p:spPr>
          <a:xfrm>
            <a:off x="2542032" y="1188720"/>
            <a:ext cx="1920240" cy="2011680"/>
          </a:xfrm>
          <a:prstGeom prst="roundRect">
            <a:avLst>
              <a:gd name="adj" fmla="val 3810"/>
            </a:avLst>
          </a:prstGeom>
          <a:solidFill>
            <a:schemeClr val="bg2"/>
          </a:solidFill>
          <a:ln w="12700">
            <a:solidFill>
              <a:schemeClr val="bg2"/>
            </a:solidFill>
            <a:prstDash val="solid"/>
          </a:ln>
        </p:spPr>
      </p:sp>
      <p:sp>
        <p:nvSpPr>
          <p:cNvPr id="7" name="Text 5"/>
          <p:cNvSpPr txBox="1"/>
          <p:nvPr/>
        </p:nvSpPr>
        <p:spPr>
          <a:xfrm>
            <a:off x="2679192" y="1371600"/>
            <a:ext cx="1645920" cy="822960"/>
          </a:xfrm>
          <a:prstGeom prst="rect">
            <a:avLst/>
          </a:prstGeom>
          <a:noFill/>
          <a:ln/>
        </p:spPr>
        <p:txBody>
          <a:bodyPr wrap="square" lIns="0" tIns="0" rIns="0" bIns="0" rtlCol="0" anchor="ctr"/>
          <a:lstStyle/>
          <a:p>
            <a:pPr algn="ctr" indent="0" marL="0">
              <a:buNone/>
            </a:pPr>
            <a:r>
              <a:rPr lang="en-US" sz="4000" b="1" dirty="0">
                <a:solidFill>
                  <a:schemeClr val="accent1"/>
                </a:solidFill>
              </a:rPr>
              <a:t>41</a:t>
            </a:r>
            <a:endParaRPr lang="en-US" sz="4000" dirty="0"/>
          </a:p>
        </p:txBody>
      </p:sp>
      <p:sp>
        <p:nvSpPr>
          <p:cNvPr id="8" name="Text 6"/>
          <p:cNvSpPr txBox="1"/>
          <p:nvPr/>
        </p:nvSpPr>
        <p:spPr>
          <a:xfrm>
            <a:off x="2679192" y="2286000"/>
            <a:ext cx="1645920" cy="822960"/>
          </a:xfrm>
          <a:prstGeom prst="rect">
            <a:avLst/>
          </a:prstGeom>
          <a:noFill/>
          <a:ln/>
        </p:spPr>
        <p:txBody>
          <a:bodyPr wrap="square" lIns="0" tIns="0" rIns="0" bIns="0" rtlCol="0" anchor="t"/>
          <a:lstStyle/>
          <a:p>
            <a:pPr algn="ctr" indent="0" marL="0">
              <a:buNone/>
            </a:pPr>
            <a:r>
              <a:rPr lang="en-US" sz="1300" b="1" dirty="0">
                <a:solidFill>
                  <a:schemeClr val="tx1"/>
                </a:solidFill>
              </a:rPr>
              <a:t>frontend unit tests</a:t>
            </a:r>
            <a:endParaRPr lang="en-US" sz="1300" dirty="0"/>
          </a:p>
        </p:txBody>
      </p:sp>
      <p:sp>
        <p:nvSpPr>
          <p:cNvPr id="9" name="quality card 3"/>
          <p:cNvSpPr/>
          <p:nvPr/>
        </p:nvSpPr>
        <p:spPr>
          <a:xfrm>
            <a:off x="4626864" y="1188720"/>
            <a:ext cx="1920240" cy="2011680"/>
          </a:xfrm>
          <a:prstGeom prst="roundRect">
            <a:avLst>
              <a:gd name="adj" fmla="val 3810"/>
            </a:avLst>
          </a:prstGeom>
          <a:solidFill>
            <a:schemeClr val="bg2"/>
          </a:solidFill>
          <a:ln w="12700">
            <a:solidFill>
              <a:schemeClr val="bg2"/>
            </a:solidFill>
            <a:prstDash val="solid"/>
          </a:ln>
        </p:spPr>
      </p:sp>
      <p:sp>
        <p:nvSpPr>
          <p:cNvPr id="10" name="Text 8"/>
          <p:cNvSpPr txBox="1"/>
          <p:nvPr/>
        </p:nvSpPr>
        <p:spPr>
          <a:xfrm>
            <a:off x="4764024" y="1371600"/>
            <a:ext cx="1645920" cy="822960"/>
          </a:xfrm>
          <a:prstGeom prst="rect">
            <a:avLst/>
          </a:prstGeom>
          <a:noFill/>
          <a:ln/>
        </p:spPr>
        <p:txBody>
          <a:bodyPr wrap="square" lIns="0" tIns="0" rIns="0" bIns="0" rtlCol="0" anchor="ctr"/>
          <a:lstStyle/>
          <a:p>
            <a:pPr algn="ctr" indent="0" marL="0">
              <a:buNone/>
            </a:pPr>
            <a:r>
              <a:rPr lang="en-US" sz="4000" b="1" dirty="0">
                <a:solidFill>
                  <a:schemeClr val="accent1"/>
                </a:solidFill>
              </a:rPr>
              <a:t>38</a:t>
            </a:r>
            <a:endParaRPr lang="en-US" sz="4000" dirty="0"/>
          </a:p>
        </p:txBody>
      </p:sp>
      <p:sp>
        <p:nvSpPr>
          <p:cNvPr id="11" name="Text 9"/>
          <p:cNvSpPr txBox="1"/>
          <p:nvPr/>
        </p:nvSpPr>
        <p:spPr>
          <a:xfrm>
            <a:off x="4764024" y="2286000"/>
            <a:ext cx="1645920" cy="822960"/>
          </a:xfrm>
          <a:prstGeom prst="rect">
            <a:avLst/>
          </a:prstGeom>
          <a:noFill/>
          <a:ln/>
        </p:spPr>
        <p:txBody>
          <a:bodyPr wrap="square" lIns="0" tIns="0" rIns="0" bIns="0" rtlCol="0" anchor="t"/>
          <a:lstStyle/>
          <a:p>
            <a:pPr algn="ctr" indent="0" marL="0">
              <a:buNone/>
            </a:pPr>
            <a:r>
              <a:rPr lang="en-US" sz="1300" b="1" dirty="0">
                <a:solidFill>
                  <a:schemeClr val="tx1"/>
                </a:solidFill>
              </a:rPr>
              <a:t>browser checks</a:t>
            </a:r>
            <a:endParaRPr lang="en-US" sz="1300" dirty="0"/>
          </a:p>
          <a:p>
            <a:pPr algn="ctr" indent="0" marL="0">
              <a:buNone/>
            </a:pPr>
            <a:r>
              <a:rPr lang="en-US" sz="1300" dirty="0">
                <a:solidFill>
                  <a:schemeClr val="tx1"/>
                </a:solidFill>
              </a:rPr>
              <a:t>3 roles · 0 console errors</a:t>
            </a:r>
            <a:endParaRPr lang="en-US" sz="1300" dirty="0"/>
          </a:p>
        </p:txBody>
      </p:sp>
      <p:sp>
        <p:nvSpPr>
          <p:cNvPr id="12" name="quality card 4"/>
          <p:cNvSpPr/>
          <p:nvPr/>
        </p:nvSpPr>
        <p:spPr>
          <a:xfrm>
            <a:off x="6711696" y="1188720"/>
            <a:ext cx="1920240" cy="2011680"/>
          </a:xfrm>
          <a:prstGeom prst="roundRect">
            <a:avLst>
              <a:gd name="adj" fmla="val 3810"/>
            </a:avLst>
          </a:prstGeom>
          <a:solidFill>
            <a:schemeClr val="bg2"/>
          </a:solidFill>
          <a:ln w="12700">
            <a:solidFill>
              <a:schemeClr val="bg2"/>
            </a:solidFill>
            <a:prstDash val="solid"/>
          </a:ln>
        </p:spPr>
      </p:sp>
      <p:sp>
        <p:nvSpPr>
          <p:cNvPr id="13" name="Text 11"/>
          <p:cNvSpPr txBox="1"/>
          <p:nvPr/>
        </p:nvSpPr>
        <p:spPr>
          <a:xfrm>
            <a:off x="6848856" y="1371600"/>
            <a:ext cx="1645920" cy="822960"/>
          </a:xfrm>
          <a:prstGeom prst="rect">
            <a:avLst/>
          </a:prstGeom>
          <a:noFill/>
          <a:ln/>
        </p:spPr>
        <p:txBody>
          <a:bodyPr wrap="square" lIns="0" tIns="0" rIns="0" bIns="0" rtlCol="0" anchor="ctr"/>
          <a:lstStyle/>
          <a:p>
            <a:pPr algn="ctr" indent="0" marL="0">
              <a:buNone/>
            </a:pPr>
            <a:r>
              <a:rPr lang="en-US" sz="4000" b="1" dirty="0">
                <a:solidFill>
                  <a:schemeClr val="accent1"/>
                </a:solidFill>
              </a:rPr>
              <a:t>100</a:t>
            </a:r>
            <a:endParaRPr lang="en-US" sz="4000" dirty="0"/>
          </a:p>
        </p:txBody>
      </p:sp>
      <p:sp>
        <p:nvSpPr>
          <p:cNvPr id="14" name="Text 12"/>
          <p:cNvSpPr txBox="1"/>
          <p:nvPr/>
        </p:nvSpPr>
        <p:spPr>
          <a:xfrm>
            <a:off x="6848856" y="2286000"/>
            <a:ext cx="1645920" cy="822960"/>
          </a:xfrm>
          <a:prstGeom prst="rect">
            <a:avLst/>
          </a:prstGeom>
          <a:noFill/>
          <a:ln/>
        </p:spPr>
        <p:txBody>
          <a:bodyPr wrap="square" lIns="0" tIns="0" rIns="0" bIns="0" rtlCol="0" anchor="t"/>
          <a:lstStyle/>
          <a:p>
            <a:pPr algn="ctr" indent="0" marL="0">
              <a:buNone/>
            </a:pPr>
            <a:r>
              <a:rPr lang="en-US" sz="1300" b="1" dirty="0">
                <a:solidFill>
                  <a:schemeClr val="tx1"/>
                </a:solidFill>
              </a:rPr>
              <a:t>Lighthouse</a:t>
            </a:r>
            <a:endParaRPr lang="en-US" sz="1300" dirty="0"/>
          </a:p>
          <a:p>
            <a:pPr algn="ctr" indent="0" marL="0">
              <a:buNone/>
            </a:pPr>
            <a:r>
              <a:rPr lang="en-US" sz="1300" dirty="0">
                <a:solidFill>
                  <a:schemeClr val="tx1"/>
                </a:solidFill>
              </a:rPr>
              <a:t>accessibility, SEO, best practices</a:t>
            </a:r>
            <a:endParaRPr lang="en-US" sz="1300" dirty="0"/>
          </a:p>
        </p:txBody>
      </p:sp>
      <p:sp>
        <p:nvSpPr>
          <p:cNvPr id="15" name="Text 13"/>
          <p:cNvSpPr txBox="1"/>
          <p:nvPr/>
        </p:nvSpPr>
        <p:spPr>
          <a:xfrm>
            <a:off x="457200" y="3520440"/>
            <a:ext cx="8229600" cy="914400"/>
          </a:xfrm>
          <a:prstGeom prst="rect">
            <a:avLst/>
          </a:prstGeom>
          <a:noFill/>
          <a:ln/>
        </p:spPr>
        <p:txBody>
          <a:bodyPr wrap="square" lIns="0" tIns="0" rIns="0" bIns="0" rtlCol="0" anchor="t"/>
          <a:lstStyle/>
          <a:p>
            <a:pPr indent="0" marL="0">
              <a:buNone/>
            </a:pPr>
            <a:r>
              <a:rPr lang="en-US" sz="1400" b="1" dirty="0">
                <a:solidFill>
                  <a:schemeClr val="tx1"/>
                </a:solidFill>
              </a:rPr>
              <a:t>Also checked: </a:t>
            </a:r>
            <a:pPr indent="0" marL="0">
              <a:buNone/>
            </a:pPr>
            <a:r>
              <a:rPr lang="en-US" sz="1400" dirty="0">
                <a:solidFill>
                  <a:schemeClr val="tx1"/>
                </a:solidFill>
              </a:rPr>
              <a:t>type checking, linting, formatting, a model validation gate, load tests, security review (JWT, rate limits, upload content checks, no secrets in git), and a rehearsed database backup and restore.</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Milestone 4: containerised and automated</a:t>
            </a:r>
            <a:endParaRPr lang="en-US" sz="2800" dirty="0"/>
          </a:p>
        </p:txBody>
      </p:sp>
      <p:sp>
        <p:nvSpPr>
          <p:cNvPr id="3" name="pipeline icon 1 circle"/>
          <p:cNvSpPr/>
          <p:nvPr/>
        </p:nvSpPr>
        <p:spPr>
          <a:xfrm>
            <a:off x="868680" y="1188720"/>
            <a:ext cx="685800" cy="685800"/>
          </a:xfrm>
          <a:prstGeom prst="ellipse">
            <a:avLst/>
          </a:prstGeom>
          <a:solidFill>
            <a:schemeClr val="tx2"/>
          </a:solidFill>
          <a:ln w="12700">
            <a:solidFill>
              <a:schemeClr val="tx2"/>
            </a:solidFill>
            <a:prstDash val="solid"/>
          </a:ln>
        </p:spPr>
      </p:sp>
      <p:pic>
        <p:nvPicPr>
          <p:cNvPr id="4" name="pipeline icon 1" descr="preencoded.png">    </p:cNvPr>
          <p:cNvPicPr>
            <a:picLocks noChangeAspect="1"/>
          </p:cNvPicPr>
          <p:nvPr/>
        </p:nvPicPr>
        <p:blipFill>
          <a:blip r:embed="rId1"/>
          <a:stretch>
            <a:fillRect/>
          </a:stretch>
        </p:blipFill>
        <p:spPr>
          <a:xfrm>
            <a:off x="1019556" y="1339596"/>
            <a:ext cx="384048" cy="384048"/>
          </a:xfrm>
          <a:prstGeom prst="rect">
            <a:avLst/>
          </a:prstGeom>
        </p:spPr>
      </p:pic>
      <p:sp>
        <p:nvSpPr>
          <p:cNvPr id="5" name="Text 2"/>
          <p:cNvSpPr txBox="1"/>
          <p:nvPr/>
        </p:nvSpPr>
        <p:spPr>
          <a:xfrm>
            <a:off x="548640" y="1965960"/>
            <a:ext cx="1325880" cy="457200"/>
          </a:xfrm>
          <a:prstGeom prst="rect">
            <a:avLst/>
          </a:prstGeom>
          <a:noFill/>
          <a:ln/>
        </p:spPr>
        <p:txBody>
          <a:bodyPr wrap="square" lIns="0" tIns="0" rIns="0" bIns="0" rtlCol="0" anchor="t"/>
          <a:lstStyle/>
          <a:p>
            <a:pPr algn="ctr" indent="0" marL="0">
              <a:buNone/>
            </a:pPr>
            <a:r>
              <a:rPr lang="en-US" sz="1300" b="1" dirty="0">
                <a:solidFill>
                  <a:schemeClr val="tx1"/>
                </a:solidFill>
              </a:rPr>
              <a:t>Push</a:t>
            </a:r>
            <a:endParaRPr lang="en-US" sz="1300" dirty="0"/>
          </a:p>
        </p:txBody>
      </p:sp>
      <p:sp>
        <p:nvSpPr>
          <p:cNvPr id="6" name="pipeline arrow 1"/>
          <p:cNvSpPr/>
          <p:nvPr/>
        </p:nvSpPr>
        <p:spPr>
          <a:xfrm>
            <a:off x="1645920" y="1531620"/>
            <a:ext cx="868680" cy="0"/>
          </a:xfrm>
          <a:prstGeom prst="line">
            <a:avLst/>
          </a:prstGeom>
          <a:noFill/>
          <a:ln w="19050">
            <a:solidFill>
              <a:schemeClr val="tx2"/>
            </a:solidFill>
            <a:prstDash val="solid"/>
            <a:tailEnd type="triangle"/>
          </a:ln>
        </p:spPr>
      </p:sp>
      <p:sp>
        <p:nvSpPr>
          <p:cNvPr id="7" name="pipeline icon 2 circle"/>
          <p:cNvSpPr/>
          <p:nvPr/>
        </p:nvSpPr>
        <p:spPr>
          <a:xfrm>
            <a:off x="2569464" y="1188720"/>
            <a:ext cx="685800" cy="685800"/>
          </a:xfrm>
          <a:prstGeom prst="ellipse">
            <a:avLst/>
          </a:prstGeom>
          <a:solidFill>
            <a:schemeClr val="accent1"/>
          </a:solidFill>
          <a:ln w="12700">
            <a:solidFill>
              <a:schemeClr val="accent1"/>
            </a:solidFill>
            <a:prstDash val="solid"/>
          </a:ln>
        </p:spPr>
      </p:sp>
      <p:pic>
        <p:nvPicPr>
          <p:cNvPr id="8" name="pipeline icon 2" descr="preencoded.png">    </p:cNvPr>
          <p:cNvPicPr>
            <a:picLocks noChangeAspect="1"/>
          </p:cNvPicPr>
          <p:nvPr/>
        </p:nvPicPr>
        <p:blipFill>
          <a:blip r:embed="rId2"/>
          <a:stretch>
            <a:fillRect/>
          </a:stretch>
        </p:blipFill>
        <p:spPr>
          <a:xfrm>
            <a:off x="2720340" y="1339596"/>
            <a:ext cx="384048" cy="384048"/>
          </a:xfrm>
          <a:prstGeom prst="rect">
            <a:avLst/>
          </a:prstGeom>
        </p:spPr>
      </p:pic>
      <p:sp>
        <p:nvSpPr>
          <p:cNvPr id="9" name="Text 5"/>
          <p:cNvSpPr txBox="1"/>
          <p:nvPr/>
        </p:nvSpPr>
        <p:spPr>
          <a:xfrm>
            <a:off x="2249424" y="1965960"/>
            <a:ext cx="1325880" cy="457200"/>
          </a:xfrm>
          <a:prstGeom prst="rect">
            <a:avLst/>
          </a:prstGeom>
          <a:noFill/>
          <a:ln/>
        </p:spPr>
        <p:txBody>
          <a:bodyPr wrap="square" lIns="0" tIns="0" rIns="0" bIns="0" rtlCol="0" anchor="t"/>
          <a:lstStyle/>
          <a:p>
            <a:pPr algn="ctr" indent="0" marL="0">
              <a:buNone/>
            </a:pPr>
            <a:r>
              <a:rPr lang="en-US" sz="1300" b="1" dirty="0">
                <a:solidFill>
                  <a:schemeClr val="tx1"/>
                </a:solidFill>
              </a:rPr>
              <a:t>Test + model gate</a:t>
            </a:r>
            <a:endParaRPr lang="en-US" sz="1300" dirty="0"/>
          </a:p>
        </p:txBody>
      </p:sp>
      <p:sp>
        <p:nvSpPr>
          <p:cNvPr id="10" name="pipeline arrow 2"/>
          <p:cNvSpPr/>
          <p:nvPr/>
        </p:nvSpPr>
        <p:spPr>
          <a:xfrm>
            <a:off x="3346704" y="1531620"/>
            <a:ext cx="868680" cy="0"/>
          </a:xfrm>
          <a:prstGeom prst="line">
            <a:avLst/>
          </a:prstGeom>
          <a:noFill/>
          <a:ln w="19050">
            <a:solidFill>
              <a:schemeClr val="tx2"/>
            </a:solidFill>
            <a:prstDash val="solid"/>
            <a:tailEnd type="triangle"/>
          </a:ln>
        </p:spPr>
      </p:sp>
      <p:sp>
        <p:nvSpPr>
          <p:cNvPr id="11" name="pipeline icon 3 circle"/>
          <p:cNvSpPr/>
          <p:nvPr/>
        </p:nvSpPr>
        <p:spPr>
          <a:xfrm>
            <a:off x="4270248" y="1188720"/>
            <a:ext cx="685800" cy="685800"/>
          </a:xfrm>
          <a:prstGeom prst="ellipse">
            <a:avLst/>
          </a:prstGeom>
          <a:solidFill>
            <a:schemeClr val="accent3"/>
          </a:solidFill>
          <a:ln w="12700">
            <a:solidFill>
              <a:schemeClr val="accent3"/>
            </a:solidFill>
            <a:prstDash val="solid"/>
          </a:ln>
        </p:spPr>
      </p:sp>
      <p:pic>
        <p:nvPicPr>
          <p:cNvPr id="12" name="pipeline icon 3" descr="preencoded.png">    </p:cNvPr>
          <p:cNvPicPr>
            <a:picLocks noChangeAspect="1"/>
          </p:cNvPicPr>
          <p:nvPr/>
        </p:nvPicPr>
        <p:blipFill>
          <a:blip r:embed="rId3"/>
          <a:stretch>
            <a:fillRect/>
          </a:stretch>
        </p:blipFill>
        <p:spPr>
          <a:xfrm>
            <a:off x="4421124" y="1339596"/>
            <a:ext cx="384048" cy="384048"/>
          </a:xfrm>
          <a:prstGeom prst="rect">
            <a:avLst/>
          </a:prstGeom>
        </p:spPr>
      </p:pic>
      <p:sp>
        <p:nvSpPr>
          <p:cNvPr id="13" name="Text 8"/>
          <p:cNvSpPr txBox="1"/>
          <p:nvPr/>
        </p:nvSpPr>
        <p:spPr>
          <a:xfrm>
            <a:off x="3950208" y="1965960"/>
            <a:ext cx="1325880" cy="457200"/>
          </a:xfrm>
          <a:prstGeom prst="rect">
            <a:avLst/>
          </a:prstGeom>
          <a:noFill/>
          <a:ln/>
        </p:spPr>
        <p:txBody>
          <a:bodyPr wrap="square" lIns="0" tIns="0" rIns="0" bIns="0" rtlCol="0" anchor="t"/>
          <a:lstStyle/>
          <a:p>
            <a:pPr algn="ctr" indent="0" marL="0">
              <a:buNone/>
            </a:pPr>
            <a:r>
              <a:rPr lang="en-US" sz="1300" b="1" dirty="0">
                <a:solidFill>
                  <a:schemeClr val="tx1"/>
                </a:solidFill>
              </a:rPr>
              <a:t>Build images</a:t>
            </a:r>
            <a:endParaRPr lang="en-US" sz="1300" dirty="0"/>
          </a:p>
        </p:txBody>
      </p:sp>
      <p:sp>
        <p:nvSpPr>
          <p:cNvPr id="14" name="pipeline arrow 3"/>
          <p:cNvSpPr/>
          <p:nvPr/>
        </p:nvSpPr>
        <p:spPr>
          <a:xfrm>
            <a:off x="5047488" y="1531620"/>
            <a:ext cx="868680" cy="0"/>
          </a:xfrm>
          <a:prstGeom prst="line">
            <a:avLst/>
          </a:prstGeom>
          <a:noFill/>
          <a:ln w="19050">
            <a:solidFill>
              <a:schemeClr val="tx2"/>
            </a:solidFill>
            <a:prstDash val="solid"/>
            <a:tailEnd type="triangle"/>
          </a:ln>
        </p:spPr>
      </p:sp>
      <p:sp>
        <p:nvSpPr>
          <p:cNvPr id="15" name="pipeline icon 4 circle"/>
          <p:cNvSpPr/>
          <p:nvPr/>
        </p:nvSpPr>
        <p:spPr>
          <a:xfrm>
            <a:off x="5971032" y="1188720"/>
            <a:ext cx="685800" cy="685800"/>
          </a:xfrm>
          <a:prstGeom prst="ellipse">
            <a:avLst/>
          </a:prstGeom>
          <a:solidFill>
            <a:schemeClr val="accent4"/>
          </a:solidFill>
          <a:ln w="12700">
            <a:solidFill>
              <a:schemeClr val="accent4"/>
            </a:solidFill>
            <a:prstDash val="solid"/>
          </a:ln>
        </p:spPr>
      </p:sp>
      <p:pic>
        <p:nvPicPr>
          <p:cNvPr id="16" name="pipeline icon 4" descr="preencoded.png">    </p:cNvPr>
          <p:cNvPicPr>
            <a:picLocks noChangeAspect="1"/>
          </p:cNvPicPr>
          <p:nvPr/>
        </p:nvPicPr>
        <p:blipFill>
          <a:blip r:embed="rId4"/>
          <a:stretch>
            <a:fillRect/>
          </a:stretch>
        </p:blipFill>
        <p:spPr>
          <a:xfrm>
            <a:off x="6121908" y="1339596"/>
            <a:ext cx="384048" cy="384048"/>
          </a:xfrm>
          <a:prstGeom prst="rect">
            <a:avLst/>
          </a:prstGeom>
        </p:spPr>
      </p:pic>
      <p:sp>
        <p:nvSpPr>
          <p:cNvPr id="17" name="Text 11"/>
          <p:cNvSpPr txBox="1"/>
          <p:nvPr/>
        </p:nvSpPr>
        <p:spPr>
          <a:xfrm>
            <a:off x="5650992" y="1965960"/>
            <a:ext cx="1325880" cy="457200"/>
          </a:xfrm>
          <a:prstGeom prst="rect">
            <a:avLst/>
          </a:prstGeom>
          <a:noFill/>
          <a:ln/>
        </p:spPr>
        <p:txBody>
          <a:bodyPr wrap="square" lIns="0" tIns="0" rIns="0" bIns="0" rtlCol="0" anchor="t"/>
          <a:lstStyle/>
          <a:p>
            <a:pPr algn="ctr" indent="0" marL="0">
              <a:buNone/>
            </a:pPr>
            <a:r>
              <a:rPr lang="en-US" sz="1300" b="1" dirty="0">
                <a:solidFill>
                  <a:schemeClr val="tx1"/>
                </a:solidFill>
              </a:rPr>
              <a:t>Deploy to VM</a:t>
            </a:r>
            <a:endParaRPr lang="en-US" sz="1300" dirty="0"/>
          </a:p>
        </p:txBody>
      </p:sp>
      <p:sp>
        <p:nvSpPr>
          <p:cNvPr id="18" name="pipeline arrow 4"/>
          <p:cNvSpPr/>
          <p:nvPr/>
        </p:nvSpPr>
        <p:spPr>
          <a:xfrm>
            <a:off x="6748272" y="1531620"/>
            <a:ext cx="868680" cy="0"/>
          </a:xfrm>
          <a:prstGeom prst="line">
            <a:avLst/>
          </a:prstGeom>
          <a:noFill/>
          <a:ln w="19050">
            <a:solidFill>
              <a:schemeClr val="tx2"/>
            </a:solidFill>
            <a:prstDash val="solid"/>
            <a:tailEnd type="triangle"/>
          </a:ln>
        </p:spPr>
      </p:sp>
      <p:sp>
        <p:nvSpPr>
          <p:cNvPr id="19" name="pipeline icon 5 circle"/>
          <p:cNvSpPr/>
          <p:nvPr/>
        </p:nvSpPr>
        <p:spPr>
          <a:xfrm>
            <a:off x="7671816" y="1188720"/>
            <a:ext cx="685800" cy="685800"/>
          </a:xfrm>
          <a:prstGeom prst="ellipse">
            <a:avLst/>
          </a:prstGeom>
          <a:solidFill>
            <a:schemeClr val="accent1"/>
          </a:solidFill>
          <a:ln w="12700">
            <a:solidFill>
              <a:schemeClr val="accent1"/>
            </a:solidFill>
            <a:prstDash val="solid"/>
          </a:ln>
        </p:spPr>
      </p:sp>
      <p:pic>
        <p:nvPicPr>
          <p:cNvPr id="20" name="pipeline icon 5" descr="preencoded.png">    </p:cNvPr>
          <p:cNvPicPr>
            <a:picLocks noChangeAspect="1"/>
          </p:cNvPicPr>
          <p:nvPr/>
        </p:nvPicPr>
        <p:blipFill>
          <a:blip r:embed="rId5"/>
          <a:stretch>
            <a:fillRect/>
          </a:stretch>
        </p:blipFill>
        <p:spPr>
          <a:xfrm>
            <a:off x="7822692" y="1339596"/>
            <a:ext cx="384048" cy="384048"/>
          </a:xfrm>
          <a:prstGeom prst="rect">
            <a:avLst/>
          </a:prstGeom>
        </p:spPr>
      </p:pic>
      <p:sp>
        <p:nvSpPr>
          <p:cNvPr id="21" name="Text 14"/>
          <p:cNvSpPr txBox="1"/>
          <p:nvPr/>
        </p:nvSpPr>
        <p:spPr>
          <a:xfrm>
            <a:off x="7351776" y="1965960"/>
            <a:ext cx="1325880" cy="457200"/>
          </a:xfrm>
          <a:prstGeom prst="rect">
            <a:avLst/>
          </a:prstGeom>
          <a:noFill/>
          <a:ln/>
        </p:spPr>
        <p:txBody>
          <a:bodyPr wrap="square" lIns="0" tIns="0" rIns="0" bIns="0" rtlCol="0" anchor="t"/>
          <a:lstStyle/>
          <a:p>
            <a:pPr algn="ctr" indent="0" marL="0">
              <a:buNone/>
            </a:pPr>
            <a:r>
              <a:rPr lang="en-US" sz="1300" b="1" dirty="0">
                <a:solidFill>
                  <a:schemeClr val="tx1"/>
                </a:solidFill>
              </a:rPr>
              <a:t>Health check</a:t>
            </a:r>
            <a:endParaRPr lang="en-US" sz="1300" dirty="0"/>
          </a:p>
        </p:txBody>
      </p:sp>
      <p:sp>
        <p:nvSpPr>
          <p:cNvPr id="22" name="docker results card"/>
          <p:cNvSpPr/>
          <p:nvPr/>
        </p:nvSpPr>
        <p:spPr>
          <a:xfrm>
            <a:off x="457200" y="2697480"/>
            <a:ext cx="8229600" cy="1600200"/>
          </a:xfrm>
          <a:prstGeom prst="roundRect">
            <a:avLst>
              <a:gd name="adj" fmla="val 4571"/>
            </a:avLst>
          </a:prstGeom>
          <a:solidFill>
            <a:schemeClr val="bg2"/>
          </a:solidFill>
          <a:ln w="12700">
            <a:solidFill>
              <a:schemeClr val="bg2"/>
            </a:solidFill>
            <a:prstDash val="solid"/>
          </a:ln>
        </p:spPr>
      </p:sp>
      <p:sp>
        <p:nvSpPr>
          <p:cNvPr id="23" name="Text 16"/>
          <p:cNvSpPr txBox="1"/>
          <p:nvPr/>
        </p:nvSpPr>
        <p:spPr>
          <a:xfrm>
            <a:off x="685800" y="2834640"/>
            <a:ext cx="7772400" cy="137160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Docker stack measured locally</a:t>
            </a:r>
            <a:endParaRPr lang="en-US" sz="1300" dirty="0"/>
          </a:p>
          <a:p>
            <a:pPr indent="0" marL="0">
              <a:spcAft>
                <a:spcPts val="300"/>
              </a:spcAft>
              <a:buNone/>
            </a:pPr>
            <a:r>
              <a:rPr lang="en-US" sz="1300" dirty="0">
                <a:solidFill>
                  <a:schemeClr val="tx1"/>
                </a:solidFill>
              </a:rPr>
              <a:t>4 services healthy (PostgreSQL, MongoDB, API, web) · 28,242 rows seeded in 6.9 s</a:t>
            </a:r>
            <a:endParaRPr lang="en-US" sz="1300" dirty="0"/>
          </a:p>
          <a:p>
            <a:pPr indent="0" marL="0">
              <a:spcAft>
                <a:spcPts val="300"/>
              </a:spcAft>
              <a:buNone/>
            </a:pPr>
            <a:r>
              <a:rPr lang="en-US" sz="1300" dirty="0">
                <a:solidFill>
                  <a:schemeClr val="tx1"/>
                </a:solidFill>
              </a:rPr>
              <a:t>20 concurrent users: 72 requests/s, p95 507 ms, 0 errors</a:t>
            </a:r>
            <a:endParaRPr lang="en-US" sz="1300" dirty="0"/>
          </a:p>
          <a:p>
            <a:pPr indent="0" marL="0">
              <a:spcAft>
                <a:spcPts val="300"/>
              </a:spcAft>
              <a:buNone/>
            </a:pPr>
            <a:r>
              <a:rPr lang="en-US" sz="1300" dirty="0">
                <a:solidFill>
                  <a:schemeClr val="tx1"/>
                </a:solidFill>
              </a:rPr>
              <a:t>API image 831 MB with CPU-only XGBoost (half the size, identical predictions) · web image 77 MB</a:t>
            </a:r>
            <a:endParaRPr lang="en-US" sz="1300" dirty="0"/>
          </a:p>
          <a:p>
            <a:pPr indent="0" marL="0">
              <a:spcAft>
                <a:spcPts val="300"/>
              </a:spcAft>
              <a:buNone/>
            </a:pPr>
            <a:r>
              <a:rPr lang="en-US" sz="1300" dirty="0">
                <a:solidFill>
                  <a:schemeClr val="tx1"/>
                </a:solidFill>
              </a:rPr>
              <a:t>Cloud: same Compose stack on an AWS EC2 or Azure VM, HTTPS via Caddy, daily backups</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What the model cannot do yet</a:t>
            </a:r>
            <a:endParaRPr lang="en-US" sz="2800" dirty="0"/>
          </a:p>
        </p:txBody>
      </p:sp>
      <p:sp>
        <p:nvSpPr>
          <p:cNvPr id="3" name="limit card 1"/>
          <p:cNvSpPr/>
          <p:nvPr/>
        </p:nvSpPr>
        <p:spPr>
          <a:xfrm>
            <a:off x="457200" y="1188720"/>
            <a:ext cx="4023360" cy="1508760"/>
          </a:xfrm>
          <a:prstGeom prst="roundRect">
            <a:avLst>
              <a:gd name="adj" fmla="val 4848"/>
            </a:avLst>
          </a:prstGeom>
          <a:solidFill>
            <a:schemeClr val="bg2"/>
          </a:solidFill>
          <a:ln w="12700">
            <a:solidFill>
              <a:schemeClr val="bg2"/>
            </a:solidFill>
            <a:prstDash val="solid"/>
          </a:ln>
        </p:spPr>
      </p:sp>
      <p:sp>
        <p:nvSpPr>
          <p:cNvPr id="4" name="limit icon 1 circle"/>
          <p:cNvSpPr/>
          <p:nvPr/>
        </p:nvSpPr>
        <p:spPr>
          <a:xfrm>
            <a:off x="685800" y="1417320"/>
            <a:ext cx="502920" cy="502920"/>
          </a:xfrm>
          <a:prstGeom prst="ellipse">
            <a:avLst/>
          </a:prstGeom>
          <a:solidFill>
            <a:schemeClr val="accent2"/>
          </a:solidFill>
          <a:ln w="12700">
            <a:solidFill>
              <a:schemeClr val="accent2"/>
            </a:solidFill>
            <a:prstDash val="solid"/>
          </a:ln>
        </p:spPr>
      </p:sp>
      <p:pic>
        <p:nvPicPr>
          <p:cNvPr id="5" name="limit icon 1" descr="preencoded.png">    </p:cNvPr>
          <p:cNvPicPr>
            <a:picLocks noChangeAspect="1"/>
          </p:cNvPicPr>
          <p:nvPr/>
        </p:nvPicPr>
        <p:blipFill>
          <a:blip r:embed="rId1"/>
          <a:stretch>
            <a:fillRect/>
          </a:stretch>
        </p:blipFill>
        <p:spPr>
          <a:xfrm>
            <a:off x="796442" y="1527962"/>
            <a:ext cx="281635" cy="281635"/>
          </a:xfrm>
          <a:prstGeom prst="rect">
            <a:avLst/>
          </a:prstGeom>
        </p:spPr>
      </p:pic>
      <p:sp>
        <p:nvSpPr>
          <p:cNvPr id="6" name="Text 3"/>
          <p:cNvSpPr txBox="1"/>
          <p:nvPr/>
        </p:nvSpPr>
        <p:spPr>
          <a:xfrm>
            <a:off x="1371600" y="1353312"/>
            <a:ext cx="2926080" cy="1234440"/>
          </a:xfrm>
          <a:prstGeom prst="rect">
            <a:avLst/>
          </a:prstGeom>
          <a:noFill/>
          <a:ln/>
        </p:spPr>
        <p:txBody>
          <a:bodyPr wrap="square" lIns="0" tIns="0" rIns="0" bIns="0" rtlCol="0" anchor="t"/>
          <a:lstStyle/>
          <a:p>
            <a:pPr indent="0" marL="0">
              <a:buNone/>
            </a:pPr>
            <a:r>
              <a:rPr lang="en-US" sz="1600" b="1" dirty="0">
                <a:solidFill>
                  <a:schemeClr val="tx1"/>
                </a:solidFill>
              </a:rPr>
              <a:t>Country-level, not field-level</a:t>
            </a:r>
            <a:endParaRPr lang="en-US" sz="1600" dirty="0"/>
          </a:p>
          <a:p>
            <a:pPr indent="0" marL="0">
              <a:buNone/>
            </a:pPr>
            <a:r>
              <a:rPr lang="en-US" sz="1300" dirty="0">
                <a:solidFill>
                  <a:schemeClr val="tx1"/>
                </a:solidFill>
              </a:rPr>
              <a:t>Yields are national averages; a farm prediction is the national expectation for that crop and year.</a:t>
            </a:r>
            <a:endParaRPr lang="en-US" sz="1600" dirty="0"/>
          </a:p>
        </p:txBody>
      </p:sp>
      <p:sp>
        <p:nvSpPr>
          <p:cNvPr id="7" name="limit card 2"/>
          <p:cNvSpPr/>
          <p:nvPr/>
        </p:nvSpPr>
        <p:spPr>
          <a:xfrm>
            <a:off x="4663440" y="1188720"/>
            <a:ext cx="4023360" cy="1508760"/>
          </a:xfrm>
          <a:prstGeom prst="roundRect">
            <a:avLst>
              <a:gd name="adj" fmla="val 4848"/>
            </a:avLst>
          </a:prstGeom>
          <a:solidFill>
            <a:schemeClr val="bg2"/>
          </a:solidFill>
          <a:ln w="12700">
            <a:solidFill>
              <a:schemeClr val="bg2"/>
            </a:solidFill>
            <a:prstDash val="solid"/>
          </a:ln>
        </p:spPr>
      </p:sp>
      <p:sp>
        <p:nvSpPr>
          <p:cNvPr id="8" name="limit icon 2 circle"/>
          <p:cNvSpPr/>
          <p:nvPr/>
        </p:nvSpPr>
        <p:spPr>
          <a:xfrm>
            <a:off x="4892040" y="1417320"/>
            <a:ext cx="502920" cy="502920"/>
          </a:xfrm>
          <a:prstGeom prst="ellipse">
            <a:avLst/>
          </a:prstGeom>
          <a:solidFill>
            <a:schemeClr val="accent2"/>
          </a:solidFill>
          <a:ln w="12700">
            <a:solidFill>
              <a:schemeClr val="accent2"/>
            </a:solidFill>
            <a:prstDash val="solid"/>
          </a:ln>
        </p:spPr>
      </p:sp>
      <p:pic>
        <p:nvPicPr>
          <p:cNvPr id="9" name="limit icon 2" descr="preencoded.png">    </p:cNvPr>
          <p:cNvPicPr>
            <a:picLocks noChangeAspect="1"/>
          </p:cNvPicPr>
          <p:nvPr/>
        </p:nvPicPr>
        <p:blipFill>
          <a:blip r:embed="rId2"/>
          <a:stretch>
            <a:fillRect/>
          </a:stretch>
        </p:blipFill>
        <p:spPr>
          <a:xfrm>
            <a:off x="5002682" y="1527962"/>
            <a:ext cx="281635" cy="281635"/>
          </a:xfrm>
          <a:prstGeom prst="rect">
            <a:avLst/>
          </a:prstGeom>
        </p:spPr>
      </p:pic>
      <p:sp>
        <p:nvSpPr>
          <p:cNvPr id="10" name="Text 6"/>
          <p:cNvSpPr txBox="1"/>
          <p:nvPr/>
        </p:nvSpPr>
        <p:spPr>
          <a:xfrm>
            <a:off x="5577840" y="1353312"/>
            <a:ext cx="2926080" cy="1234440"/>
          </a:xfrm>
          <a:prstGeom prst="rect">
            <a:avLst/>
          </a:prstGeom>
          <a:noFill/>
          <a:ln/>
        </p:spPr>
        <p:txBody>
          <a:bodyPr wrap="square" lIns="0" tIns="0" rIns="0" bIns="0" rtlCol="0" anchor="t"/>
          <a:lstStyle/>
          <a:p>
            <a:pPr indent="0" marL="0">
              <a:buNone/>
            </a:pPr>
            <a:r>
              <a:rPr lang="en-US" sz="1600" b="1" dirty="0">
                <a:solidFill>
                  <a:schemeClr val="tx1"/>
                </a:solidFill>
              </a:rPr>
              <a:t>New countries are hard</a:t>
            </a:r>
            <a:endParaRPr lang="en-US" sz="1600" dirty="0"/>
          </a:p>
          <a:p>
            <a:pPr indent="0" marL="0">
              <a:buNone/>
            </a:pPr>
            <a:r>
              <a:rPr lang="en-US" sz="1300" dirty="0">
                <a:solidFill>
                  <a:schemeClr val="tx1"/>
                </a:solidFill>
              </a:rPr>
              <a:t>On countries held out entirely, R² falls to 0.67 (RMSE 5,861 kg/ha).</a:t>
            </a:r>
            <a:endParaRPr lang="en-US" sz="1600" dirty="0"/>
          </a:p>
        </p:txBody>
      </p:sp>
      <p:sp>
        <p:nvSpPr>
          <p:cNvPr id="11" name="limit card 3"/>
          <p:cNvSpPr/>
          <p:nvPr/>
        </p:nvSpPr>
        <p:spPr>
          <a:xfrm>
            <a:off x="457200" y="2880360"/>
            <a:ext cx="4023360" cy="1508760"/>
          </a:xfrm>
          <a:prstGeom prst="roundRect">
            <a:avLst>
              <a:gd name="adj" fmla="val 4848"/>
            </a:avLst>
          </a:prstGeom>
          <a:solidFill>
            <a:schemeClr val="bg2"/>
          </a:solidFill>
          <a:ln w="12700">
            <a:solidFill>
              <a:schemeClr val="bg2"/>
            </a:solidFill>
            <a:prstDash val="solid"/>
          </a:ln>
        </p:spPr>
      </p:sp>
      <p:sp>
        <p:nvSpPr>
          <p:cNvPr id="12" name="limit icon 3 circle"/>
          <p:cNvSpPr/>
          <p:nvPr/>
        </p:nvSpPr>
        <p:spPr>
          <a:xfrm>
            <a:off x="685800" y="3108960"/>
            <a:ext cx="502920" cy="502920"/>
          </a:xfrm>
          <a:prstGeom prst="ellipse">
            <a:avLst/>
          </a:prstGeom>
          <a:solidFill>
            <a:schemeClr val="accent2"/>
          </a:solidFill>
          <a:ln w="12700">
            <a:solidFill>
              <a:schemeClr val="accent2"/>
            </a:solidFill>
            <a:prstDash val="solid"/>
          </a:ln>
        </p:spPr>
      </p:sp>
      <p:pic>
        <p:nvPicPr>
          <p:cNvPr id="13" name="limit icon 3" descr="preencoded.png">    </p:cNvPr>
          <p:cNvPicPr>
            <a:picLocks noChangeAspect="1"/>
          </p:cNvPicPr>
          <p:nvPr/>
        </p:nvPicPr>
        <p:blipFill>
          <a:blip r:embed="rId3"/>
          <a:stretch>
            <a:fillRect/>
          </a:stretch>
        </p:blipFill>
        <p:spPr>
          <a:xfrm>
            <a:off x="796442" y="3219602"/>
            <a:ext cx="281635" cy="281635"/>
          </a:xfrm>
          <a:prstGeom prst="rect">
            <a:avLst/>
          </a:prstGeom>
        </p:spPr>
      </p:pic>
      <p:sp>
        <p:nvSpPr>
          <p:cNvPr id="14" name="Text 9"/>
          <p:cNvSpPr txBox="1"/>
          <p:nvPr/>
        </p:nvSpPr>
        <p:spPr>
          <a:xfrm>
            <a:off x="1371600" y="3044952"/>
            <a:ext cx="2926080" cy="1234440"/>
          </a:xfrm>
          <a:prstGeom prst="rect">
            <a:avLst/>
          </a:prstGeom>
          <a:noFill/>
          <a:ln/>
        </p:spPr>
        <p:txBody>
          <a:bodyPr wrap="square" lIns="0" tIns="0" rIns="0" bIns="0" rtlCol="0" anchor="t"/>
          <a:lstStyle/>
          <a:p>
            <a:pPr indent="0" marL="0">
              <a:buNone/>
            </a:pPr>
            <a:r>
              <a:rPr lang="en-US" sz="1600" b="1" dirty="0">
                <a:solidFill>
                  <a:schemeClr val="tx1"/>
                </a:solidFill>
              </a:rPr>
              <a:t>No year-to-year rainfall</a:t>
            </a:r>
            <a:endParaRPr lang="en-US" sz="1600" dirty="0"/>
          </a:p>
          <a:p>
            <a:pPr indent="0" marL="0">
              <a:buNone/>
            </a:pPr>
            <a:r>
              <a:rPr lang="en-US" sz="1300" dirty="0">
                <a:solidFill>
                  <a:schemeClr val="tx1"/>
                </a:solidFill>
              </a:rPr>
              <a:t>Rainfall is one long-term value per country in the data, so its effect is a country difference.</a:t>
            </a:r>
            <a:endParaRPr lang="en-US" sz="1600" dirty="0"/>
          </a:p>
        </p:txBody>
      </p:sp>
      <p:sp>
        <p:nvSpPr>
          <p:cNvPr id="15" name="limit card 4"/>
          <p:cNvSpPr/>
          <p:nvPr/>
        </p:nvSpPr>
        <p:spPr>
          <a:xfrm>
            <a:off x="4663440" y="2880360"/>
            <a:ext cx="4023360" cy="1508760"/>
          </a:xfrm>
          <a:prstGeom prst="roundRect">
            <a:avLst>
              <a:gd name="adj" fmla="val 4848"/>
            </a:avLst>
          </a:prstGeom>
          <a:solidFill>
            <a:schemeClr val="bg2"/>
          </a:solidFill>
          <a:ln w="12700">
            <a:solidFill>
              <a:schemeClr val="bg2"/>
            </a:solidFill>
            <a:prstDash val="solid"/>
          </a:ln>
        </p:spPr>
      </p:sp>
      <p:sp>
        <p:nvSpPr>
          <p:cNvPr id="16" name="limit icon 4 circle"/>
          <p:cNvSpPr/>
          <p:nvPr/>
        </p:nvSpPr>
        <p:spPr>
          <a:xfrm>
            <a:off x="4892040" y="3108960"/>
            <a:ext cx="502920" cy="502920"/>
          </a:xfrm>
          <a:prstGeom prst="ellipse">
            <a:avLst/>
          </a:prstGeom>
          <a:solidFill>
            <a:schemeClr val="accent2"/>
          </a:solidFill>
          <a:ln w="12700">
            <a:solidFill>
              <a:schemeClr val="accent2"/>
            </a:solidFill>
            <a:prstDash val="solid"/>
          </a:ln>
        </p:spPr>
      </p:sp>
      <p:pic>
        <p:nvPicPr>
          <p:cNvPr id="17" name="limit icon 4" descr="preencoded.png">    </p:cNvPr>
          <p:cNvPicPr>
            <a:picLocks noChangeAspect="1"/>
          </p:cNvPicPr>
          <p:nvPr/>
        </p:nvPicPr>
        <p:blipFill>
          <a:blip r:embed="rId4"/>
          <a:stretch>
            <a:fillRect/>
          </a:stretch>
        </p:blipFill>
        <p:spPr>
          <a:xfrm>
            <a:off x="5002682" y="3219602"/>
            <a:ext cx="281635" cy="281635"/>
          </a:xfrm>
          <a:prstGeom prst="rect">
            <a:avLst/>
          </a:prstGeom>
        </p:spPr>
      </p:pic>
      <p:sp>
        <p:nvSpPr>
          <p:cNvPr id="18" name="Text 12"/>
          <p:cNvSpPr txBox="1"/>
          <p:nvPr/>
        </p:nvSpPr>
        <p:spPr>
          <a:xfrm>
            <a:off x="5577840" y="3044952"/>
            <a:ext cx="2926080" cy="1234440"/>
          </a:xfrm>
          <a:prstGeom prst="rect">
            <a:avLst/>
          </a:prstGeom>
          <a:noFill/>
          <a:ln/>
        </p:spPr>
        <p:txBody>
          <a:bodyPr wrap="square" lIns="0" tIns="0" rIns="0" bIns="0" rtlCol="0" anchor="t"/>
          <a:lstStyle/>
          <a:p>
            <a:pPr indent="0" marL="0">
              <a:buNone/>
            </a:pPr>
            <a:r>
              <a:rPr lang="en-US" sz="1600" b="1" dirty="0">
                <a:solidFill>
                  <a:schemeClr val="tx1"/>
                </a:solidFill>
              </a:rPr>
              <a:t>Range slightly narrow</a:t>
            </a:r>
            <a:endParaRPr lang="en-US" sz="1600" dirty="0"/>
          </a:p>
          <a:p>
            <a:pPr indent="0" marL="0">
              <a:buNone/>
            </a:pPr>
            <a:r>
              <a:rPr lang="en-US" sz="1300" dirty="0">
                <a:solidFill>
                  <a:schemeClr val="tx1"/>
                </a:solidFill>
              </a:rPr>
              <a:t>74.5% coverage against an 80% target; reported in the app.</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Next steps</a:t>
            </a:r>
            <a:endParaRPr lang="en-US" sz="2800" dirty="0"/>
          </a:p>
        </p:txBody>
      </p:sp>
      <p:sp>
        <p:nvSpPr>
          <p:cNvPr id="3" name="next card 1"/>
          <p:cNvSpPr/>
          <p:nvPr/>
        </p:nvSpPr>
        <p:spPr>
          <a:xfrm>
            <a:off x="457200" y="1234440"/>
            <a:ext cx="2606040" cy="2468880"/>
          </a:xfrm>
          <a:prstGeom prst="roundRect">
            <a:avLst>
              <a:gd name="adj" fmla="val 2963"/>
            </a:avLst>
          </a:prstGeom>
          <a:solidFill>
            <a:schemeClr val="bg2"/>
          </a:solidFill>
          <a:ln w="12700">
            <a:solidFill>
              <a:schemeClr val="bg2"/>
            </a:solidFill>
            <a:prstDash val="solid"/>
          </a:ln>
        </p:spPr>
      </p:sp>
      <p:sp>
        <p:nvSpPr>
          <p:cNvPr id="4" name="next icon 1 circle"/>
          <p:cNvSpPr/>
          <p:nvPr/>
        </p:nvSpPr>
        <p:spPr>
          <a:xfrm>
            <a:off x="685800" y="1463040"/>
            <a:ext cx="548640" cy="548640"/>
          </a:xfrm>
          <a:prstGeom prst="ellipse">
            <a:avLst/>
          </a:prstGeom>
          <a:solidFill>
            <a:schemeClr val="accent1"/>
          </a:solidFill>
          <a:ln w="12700">
            <a:solidFill>
              <a:schemeClr val="accent1"/>
            </a:solidFill>
            <a:prstDash val="solid"/>
          </a:ln>
        </p:spPr>
      </p:sp>
      <p:pic>
        <p:nvPicPr>
          <p:cNvPr id="5" name="next icon 1" descr="preencoded.png">    </p:cNvPr>
          <p:cNvPicPr>
            <a:picLocks noChangeAspect="1"/>
          </p:cNvPicPr>
          <p:nvPr/>
        </p:nvPicPr>
        <p:blipFill>
          <a:blip r:embed="rId1"/>
          <a:stretch>
            <a:fillRect/>
          </a:stretch>
        </p:blipFill>
        <p:spPr>
          <a:xfrm>
            <a:off x="806501" y="1583741"/>
            <a:ext cx="307238" cy="307238"/>
          </a:xfrm>
          <a:prstGeom prst="rect">
            <a:avLst/>
          </a:prstGeom>
        </p:spPr>
      </p:pic>
      <p:sp>
        <p:nvSpPr>
          <p:cNvPr id="6" name="Text 3"/>
          <p:cNvSpPr txBox="1"/>
          <p:nvPr/>
        </p:nvSpPr>
        <p:spPr>
          <a:xfrm>
            <a:off x="685800" y="2148840"/>
            <a:ext cx="2194560" cy="365760"/>
          </a:xfrm>
          <a:prstGeom prst="rect">
            <a:avLst/>
          </a:prstGeom>
          <a:noFill/>
          <a:ln/>
        </p:spPr>
        <p:txBody>
          <a:bodyPr wrap="square" lIns="0" tIns="0" rIns="0" bIns="0" rtlCol="0" anchor="ctr"/>
          <a:lstStyle/>
          <a:p>
            <a:pPr indent="0" marL="0">
              <a:buNone/>
            </a:pPr>
            <a:r>
              <a:rPr lang="en-US" sz="1700" b="1" dirty="0">
                <a:solidFill>
                  <a:schemeClr val="tx1"/>
                </a:solidFill>
              </a:rPr>
              <a:t>Go live</a:t>
            </a:r>
            <a:endParaRPr lang="en-US" sz="1700" dirty="0"/>
          </a:p>
        </p:txBody>
      </p:sp>
      <p:sp>
        <p:nvSpPr>
          <p:cNvPr id="7" name="Text 4"/>
          <p:cNvSpPr txBox="1"/>
          <p:nvPr/>
        </p:nvSpPr>
        <p:spPr>
          <a:xfrm>
            <a:off x="685800" y="2560320"/>
            <a:ext cx="2194560" cy="1051560"/>
          </a:xfrm>
          <a:prstGeom prst="rect">
            <a:avLst/>
          </a:prstGeom>
          <a:noFill/>
          <a:ln/>
        </p:spPr>
        <p:txBody>
          <a:bodyPr wrap="square" lIns="0" tIns="0" rIns="0" bIns="0" rtlCol="0" anchor="t"/>
          <a:lstStyle/>
          <a:p>
            <a:pPr indent="0" marL="0">
              <a:buNone/>
            </a:pPr>
            <a:r>
              <a:rPr lang="en-US" sz="1400" dirty="0">
                <a:solidFill>
                  <a:schemeClr val="tx1"/>
                </a:solidFill>
              </a:rPr>
              <a:t>First cloud deployment on AWS or Azure with HTTPS; record production load-test results.</a:t>
            </a:r>
            <a:endParaRPr lang="en-US" sz="1400" dirty="0"/>
          </a:p>
        </p:txBody>
      </p:sp>
      <p:sp>
        <p:nvSpPr>
          <p:cNvPr id="8" name="next card 2"/>
          <p:cNvSpPr/>
          <p:nvPr/>
        </p:nvSpPr>
        <p:spPr>
          <a:xfrm>
            <a:off x="3246120" y="1234440"/>
            <a:ext cx="2606040" cy="2468880"/>
          </a:xfrm>
          <a:prstGeom prst="roundRect">
            <a:avLst>
              <a:gd name="adj" fmla="val 2963"/>
            </a:avLst>
          </a:prstGeom>
          <a:solidFill>
            <a:schemeClr val="bg2"/>
          </a:solidFill>
          <a:ln w="12700">
            <a:solidFill>
              <a:schemeClr val="bg2"/>
            </a:solidFill>
            <a:prstDash val="solid"/>
          </a:ln>
        </p:spPr>
      </p:sp>
      <p:sp>
        <p:nvSpPr>
          <p:cNvPr id="9" name="next icon 2 circle"/>
          <p:cNvSpPr/>
          <p:nvPr/>
        </p:nvSpPr>
        <p:spPr>
          <a:xfrm>
            <a:off x="3474720" y="1463040"/>
            <a:ext cx="548640" cy="548640"/>
          </a:xfrm>
          <a:prstGeom prst="ellipse">
            <a:avLst/>
          </a:prstGeom>
          <a:solidFill>
            <a:schemeClr val="accent4"/>
          </a:solidFill>
          <a:ln w="12700">
            <a:solidFill>
              <a:schemeClr val="accent4"/>
            </a:solidFill>
            <a:prstDash val="solid"/>
          </a:ln>
        </p:spPr>
      </p:sp>
      <p:pic>
        <p:nvPicPr>
          <p:cNvPr id="10" name="next icon 2" descr="preencoded.png">    </p:cNvPr>
          <p:cNvPicPr>
            <a:picLocks noChangeAspect="1"/>
          </p:cNvPicPr>
          <p:nvPr/>
        </p:nvPicPr>
        <p:blipFill>
          <a:blip r:embed="rId2"/>
          <a:stretch>
            <a:fillRect/>
          </a:stretch>
        </p:blipFill>
        <p:spPr>
          <a:xfrm>
            <a:off x="3595421" y="1583741"/>
            <a:ext cx="307238" cy="307238"/>
          </a:xfrm>
          <a:prstGeom prst="rect">
            <a:avLst/>
          </a:prstGeom>
        </p:spPr>
      </p:pic>
      <p:sp>
        <p:nvSpPr>
          <p:cNvPr id="11" name="Text 7"/>
          <p:cNvSpPr txBox="1"/>
          <p:nvPr/>
        </p:nvSpPr>
        <p:spPr>
          <a:xfrm>
            <a:off x="3474720" y="2148840"/>
            <a:ext cx="2194560" cy="365760"/>
          </a:xfrm>
          <a:prstGeom prst="rect">
            <a:avLst/>
          </a:prstGeom>
          <a:noFill/>
          <a:ln/>
        </p:spPr>
        <p:txBody>
          <a:bodyPr wrap="square" lIns="0" tIns="0" rIns="0" bIns="0" rtlCol="0" anchor="ctr"/>
          <a:lstStyle/>
          <a:p>
            <a:pPr indent="0" marL="0">
              <a:buNone/>
            </a:pPr>
            <a:r>
              <a:rPr lang="en-US" sz="1700" b="1" dirty="0">
                <a:solidFill>
                  <a:schemeClr val="tx1"/>
                </a:solidFill>
              </a:rPr>
              <a:t>Managed databases</a:t>
            </a:r>
            <a:endParaRPr lang="en-US" sz="1700" dirty="0"/>
          </a:p>
        </p:txBody>
      </p:sp>
      <p:sp>
        <p:nvSpPr>
          <p:cNvPr id="12" name="Text 8"/>
          <p:cNvSpPr txBox="1"/>
          <p:nvPr/>
        </p:nvSpPr>
        <p:spPr>
          <a:xfrm>
            <a:off x="3474720" y="2560320"/>
            <a:ext cx="2194560" cy="1051560"/>
          </a:xfrm>
          <a:prstGeom prst="rect">
            <a:avLst/>
          </a:prstGeom>
          <a:noFill/>
          <a:ln/>
        </p:spPr>
        <p:txBody>
          <a:bodyPr wrap="square" lIns="0" tIns="0" rIns="0" bIns="0" rtlCol="0" anchor="t"/>
          <a:lstStyle/>
          <a:p>
            <a:pPr indent="0" marL="0">
              <a:buNone/>
            </a:pPr>
            <a:r>
              <a:rPr lang="en-US" sz="1400" dirty="0">
                <a:solidFill>
                  <a:schemeClr val="tx1"/>
                </a:solidFill>
              </a:rPr>
              <a:t>Move to managed PostgreSQL and MongoDB for automatic backups and failover.</a:t>
            </a:r>
            <a:endParaRPr lang="en-US" sz="1400" dirty="0"/>
          </a:p>
        </p:txBody>
      </p:sp>
      <p:sp>
        <p:nvSpPr>
          <p:cNvPr id="13" name="next card 3"/>
          <p:cNvSpPr/>
          <p:nvPr/>
        </p:nvSpPr>
        <p:spPr>
          <a:xfrm>
            <a:off x="6035040" y="1234440"/>
            <a:ext cx="2606040" cy="2468880"/>
          </a:xfrm>
          <a:prstGeom prst="roundRect">
            <a:avLst>
              <a:gd name="adj" fmla="val 2963"/>
            </a:avLst>
          </a:prstGeom>
          <a:solidFill>
            <a:schemeClr val="bg2"/>
          </a:solidFill>
          <a:ln w="12700">
            <a:solidFill>
              <a:schemeClr val="bg2"/>
            </a:solidFill>
            <a:prstDash val="solid"/>
          </a:ln>
        </p:spPr>
      </p:sp>
      <p:sp>
        <p:nvSpPr>
          <p:cNvPr id="14" name="next icon 3 circle"/>
          <p:cNvSpPr/>
          <p:nvPr/>
        </p:nvSpPr>
        <p:spPr>
          <a:xfrm>
            <a:off x="6263640" y="1463040"/>
            <a:ext cx="548640" cy="548640"/>
          </a:xfrm>
          <a:prstGeom prst="ellipse">
            <a:avLst/>
          </a:prstGeom>
          <a:solidFill>
            <a:schemeClr val="tx2"/>
          </a:solidFill>
          <a:ln w="12700">
            <a:solidFill>
              <a:schemeClr val="tx2"/>
            </a:solidFill>
            <a:prstDash val="solid"/>
          </a:ln>
        </p:spPr>
      </p:sp>
      <p:pic>
        <p:nvPicPr>
          <p:cNvPr id="15" name="next icon 3" descr="preencoded.png">    </p:cNvPr>
          <p:cNvPicPr>
            <a:picLocks noChangeAspect="1"/>
          </p:cNvPicPr>
          <p:nvPr/>
        </p:nvPicPr>
        <p:blipFill>
          <a:blip r:embed="rId3"/>
          <a:stretch>
            <a:fillRect/>
          </a:stretch>
        </p:blipFill>
        <p:spPr>
          <a:xfrm>
            <a:off x="6384341" y="1583741"/>
            <a:ext cx="307238" cy="307238"/>
          </a:xfrm>
          <a:prstGeom prst="rect">
            <a:avLst/>
          </a:prstGeom>
        </p:spPr>
      </p:pic>
      <p:sp>
        <p:nvSpPr>
          <p:cNvPr id="16" name="Text 11"/>
          <p:cNvSpPr txBox="1"/>
          <p:nvPr/>
        </p:nvSpPr>
        <p:spPr>
          <a:xfrm>
            <a:off x="6263640" y="2148840"/>
            <a:ext cx="2194560" cy="365760"/>
          </a:xfrm>
          <a:prstGeom prst="rect">
            <a:avLst/>
          </a:prstGeom>
          <a:noFill/>
          <a:ln/>
        </p:spPr>
        <p:txBody>
          <a:bodyPr wrap="square" lIns="0" tIns="0" rIns="0" bIns="0" rtlCol="0" anchor="ctr"/>
          <a:lstStyle/>
          <a:p>
            <a:pPr indent="0" marL="0">
              <a:buNone/>
            </a:pPr>
            <a:r>
              <a:rPr lang="en-US" sz="1700" b="1" dirty="0">
                <a:solidFill>
                  <a:schemeClr val="tx1"/>
                </a:solidFill>
              </a:rPr>
              <a:t>Field-level data</a:t>
            </a:r>
            <a:endParaRPr lang="en-US" sz="1700" dirty="0"/>
          </a:p>
        </p:txBody>
      </p:sp>
      <p:sp>
        <p:nvSpPr>
          <p:cNvPr id="17" name="Text 12"/>
          <p:cNvSpPr txBox="1"/>
          <p:nvPr/>
        </p:nvSpPr>
        <p:spPr>
          <a:xfrm>
            <a:off x="6263640" y="2560320"/>
            <a:ext cx="2194560" cy="1051560"/>
          </a:xfrm>
          <a:prstGeom prst="rect">
            <a:avLst/>
          </a:prstGeom>
          <a:noFill/>
          <a:ln/>
        </p:spPr>
        <p:txBody>
          <a:bodyPr wrap="square" lIns="0" tIns="0" rIns="0" bIns="0" rtlCol="0" anchor="t"/>
          <a:lstStyle/>
          <a:p>
            <a:pPr indent="0" marL="0">
              <a:buNone/>
            </a:pPr>
            <a:r>
              <a:rPr lang="en-US" sz="1400" dirty="0">
                <a:solidFill>
                  <a:schemeClr val="tx1"/>
                </a:solidFill>
              </a:rPr>
              <a:t>Add harvested area, production and field measurements to go beyond national averages.</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914400"/>
          </a:xfrm>
          <a:prstGeom prst="rect">
            <a:avLst/>
          </a:prstGeom>
          <a:noFill/>
          <a:ln/>
        </p:spPr>
        <p:txBody>
          <a:bodyPr wrap="square" lIns="0" tIns="0" rIns="0" bIns="0" rtlCol="0"/>
          <a:lstStyle/>
          <a:p>
            <a:pPr algn="l" indent="0" marL="0">
              <a:buNone/>
            </a:pPr>
            <a:r>
              <a:rPr lang="en-US" sz="3600" b="1" dirty="0">
                <a:solidFill>
                  <a:schemeClr val="bg1"/>
                </a:solidFill>
              </a:rPr>
              <a:t>Live demo, then questions</a:t>
            </a:r>
            <a:endParaRPr lang="en-US" sz="3600" dirty="0"/>
          </a:p>
        </p:txBody>
      </p:sp>
      <p:sp>
        <p:nvSpPr>
          <p:cNvPr id="3" name="Text 0"/>
          <p:cNvSpPr/>
          <p:nvPr>
            <p:ph idx="101" type="body" hasCustomPrompt="1"/>
          </p:nvPr>
        </p:nvSpPr>
        <p:spPr>
          <a:xfrm>
            <a:off x="548640" y="2788920"/>
            <a:ext cx="8046720" cy="731520"/>
          </a:xfrm>
          <a:prstGeom prst="rect">
            <a:avLst/>
          </a:prstGeom>
          <a:noFill/>
          <a:ln/>
        </p:spPr>
        <p:txBody>
          <a:bodyPr wrap="square" lIns="0" tIns="0" rIns="0" bIns="0" rtlCol="0" anchor="t"/>
          <a:lstStyle/>
          <a:p>
            <a:pPr indent="0" marL="0">
              <a:buNone/>
            </a:pPr>
            <a:r>
              <a:rPr lang="en-US" sz="1600" dirty="0">
                <a:solidFill>
                  <a:schemeClr val="accent5"/>
                </a:solidFill>
              </a:rPr>
              <a:t>Sign in as a farmer → predict → risk → soil → recommendations → admin metrics</a:t>
            </a:r>
            <a:endParaRPr lang="en-US" sz="1600" dirty="0"/>
          </a:p>
        </p:txBody>
      </p:sp>
      <p:sp>
        <p:nvSpPr>
          <p:cNvPr id="4" name="demo icon circle"/>
          <p:cNvSpPr/>
          <p:nvPr/>
        </p:nvSpPr>
        <p:spPr>
          <a:xfrm>
            <a:off x="548640" y="731520"/>
            <a:ext cx="685800" cy="685800"/>
          </a:xfrm>
          <a:prstGeom prst="ellipse">
            <a:avLst/>
          </a:prstGeom>
          <a:solidFill>
            <a:schemeClr val="accent2"/>
          </a:solidFill>
          <a:ln w="12700">
            <a:solidFill>
              <a:schemeClr val="accent2"/>
            </a:solidFill>
            <a:prstDash val="solid"/>
          </a:ln>
        </p:spPr>
      </p:sp>
      <p:pic>
        <p:nvPicPr>
          <p:cNvPr id="5" name="demo icon" descr="preencoded.png">    </p:cNvPr>
          <p:cNvPicPr>
            <a:picLocks noChangeAspect="1"/>
          </p:cNvPicPr>
          <p:nvPr/>
        </p:nvPicPr>
        <p:blipFill>
          <a:blip r:embed="rId1"/>
          <a:stretch>
            <a:fillRect/>
          </a:stretch>
        </p:blipFill>
        <p:spPr>
          <a:xfrm>
            <a:off x="699516" y="882396"/>
            <a:ext cx="384048" cy="384048"/>
          </a:xfrm>
          <a:prstGeom prst="rect">
            <a:avLst/>
          </a:prstGeom>
        </p:spPr>
      </p:pic>
      <p:sp>
        <p:nvSpPr>
          <p:cNvPr id="6" name="Text 3"/>
          <p:cNvSpPr txBox="1"/>
          <p:nvPr/>
        </p:nvSpPr>
        <p:spPr>
          <a:xfrm>
            <a:off x="548640" y="4114800"/>
            <a:ext cx="7315200" cy="365760"/>
          </a:xfrm>
          <a:prstGeom prst="rect">
            <a:avLst/>
          </a:prstGeom>
          <a:noFill/>
          <a:ln/>
        </p:spPr>
        <p:txBody>
          <a:bodyPr wrap="square" lIns="0" tIns="0" rIns="0" bIns="0" rtlCol="0" anchor="ctr"/>
          <a:lstStyle/>
          <a:p>
            <a:pPr indent="0" marL="0">
              <a:buNone/>
            </a:pPr>
            <a:r>
              <a:rPr lang="en-US" sz="1600" dirty="0">
                <a:solidFill>
                  <a:schemeClr val="bg1"/>
                </a:solidFill>
              </a:rPr>
              <a:t>Thank you  ·  Durga Prasad A</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YieldSense Field">
  <a:themeElements>
    <a:clrScheme name="YieldSense Field">
      <a:dk1>
        <a:srgbClr val="14231A"/>
      </a:dk1>
      <a:lt1>
        <a:srgbClr val="FFFFFF"/>
      </a:lt1>
      <a:dk2>
        <a:srgbClr val="1F4D33"/>
      </a:dk2>
      <a:lt2>
        <a:srgbClr val="EEF4EF"/>
      </a:lt2>
      <a:accent1>
        <a:srgbClr val="1F7A4D"/>
      </a:accent1>
      <a:accent2>
        <a:srgbClr val="E8A33A"/>
      </a:accent2>
      <a:accent3>
        <a:srgbClr val="3B7DD8"/>
      </a:accent3>
      <a:accent4>
        <a:srgbClr val="B07A4F"/>
      </a:accent4>
      <a:accent5>
        <a:srgbClr val="7FBF8F"/>
      </a:accent5>
      <a:accent6>
        <a:srgbClr val="C2410C"/>
      </a:accent6>
      <a:hlink>
        <a:srgbClr val="1F7A4D"/>
      </a:hlink>
      <a:folHlink>
        <a:srgbClr val="1F4D33"/>
      </a:folHlink>
    </a:clrScheme>
    <a:fontScheme name="YieldSense Fie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YieldSense AI — Final presentation</dc:title>
  <dc:subject>Crop yield prediction and agricultural productivity intelligence</dc:subject>
  <dc:creator>Durga Prasad A</dc:creator>
  <cp:lastModifiedBy>Durga Prasad A</cp:lastModifiedBy>
  <cp:revision>1</cp:revision>
  <dcterms:created xsi:type="dcterms:W3CDTF">2026-10-08T14:54:15Z</dcterms:created>
  <dcterms:modified xsi:type="dcterms:W3CDTF">2026-10-08T14:54:15Z</dcterms:modified>
</cp:coreProperties>
</file>